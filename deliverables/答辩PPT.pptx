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40b8d7a6-9a16-9c87-8eb7-73cdbefd2afe}">
          <p14:sldIdLst>
            <p14:sldId id="256"/>
          </p14:sldIdLst>
        </p14:section>
        <p14:section name="问题与方案" id="{36c5aa2f-decc-c86a-24b6-26652d856206}">
          <p14:sldIdLst>
            <p14:sldId id="257"/>
            <p14:sldId id="258"/>
          </p14:sldIdLst>
        </p14:section>
        <p14:section name="架构与规划" id="{266f3be3-d836-bac0-3209-e5ab544b755c}">
          <p14:sldIdLst>
            <p14:sldId id="259"/>
            <p14:sldId id="260"/>
          </p14:sldIdLst>
        </p14:section>
        <p14:section name="安全设计" id="{540962ae-ea0c-bfa0-e9a4-977e23e70d68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体验与评测" id="{be337075-2d72-4337-1e57-98a791b8ff92}">
          <p14:sldIdLst>
            <p14:sldId id="267"/>
            <p14:sldId id="268"/>
            <p14:sldId id="269"/>
          </p14:sldIdLst>
        </p14:section>
        <p14:section name="总结" id="{1bd7f41d-1819-9544-877e-214c9b9a963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0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04A"/>
                </a:solidFill>
                <a:latin typeface="+mn-lt"/>
              </a:rPr>
              <a:t>分场景通过率（%）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通过率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0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转账</c:v>
                  </c:pt>
                  <c:pt idx="1">
                    <c:v>账单</c:v>
                  </c:pt>
                  <c:pt idx="2">
                    <c:v>理财</c:v>
                  </c:pt>
                  <c:pt idx="3">
                    <c:v>卡片</c:v>
                  </c:pt>
                  <c:pt idx="4">
                    <c:v>订阅</c:v>
                  </c:pt>
                  <c:pt idx="5">
                    <c:v>联动</c:v>
                  </c:pt>
                  <c:pt idx="6">
                    <c:v>体验</c:v>
                  </c:pt>
                  <c:pt idx="7">
                    <c:v>安全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95.5</c:v>
                </c:pt>
                <c:pt idx="1">
                  <c:v>100</c:v>
                </c:pt>
                <c:pt idx="2">
                  <c:v>100</c:v>
                </c:pt>
                <c:pt idx="3">
                  <c:v>91.7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320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0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各位评委好，我们的作品叫“小安”，是一个用自然语言办理银行业务的 AI 智能体。一句话概括：说一句就能办，每一步都有代码把关。它覆盖赛题的六大场景，所有数据都是模拟的。接下来十分钟，我们重点讲三件事：小安能办成什么、它为什么安全、我们怎么证明这两点。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我们看到两个痛点。第一，银行 App 功能越来越多，做一件小事要点很多层，老人尤其吃力，而他们正是诈骗的主要目标。第二，大家都想用大模型来代办，但模型会被诱导、会被注入、会产生幻觉——如果让它直接决定转账，风险不可接受。我们的方案就是在这两者之间找到平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这是小安的能力全景。转账、账单、理财、卡片、订阅、跨场景联动六大场景，赛题表里的 18 项典型能力都可以用口语直接办。比如“明天给小王转200，备注还饭钱”，一句话就生成定时转账单；“我卡丢了”，小安会给出临时冻结和正式挂失两个选项。卡片上的每一句，都是我们评测集里真实跑过的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体架构分三层：手机网页、智能体编排层、安全内核。核心原则是“模型提议，代码裁决”。模型负责听懂口语、规划和选择工具，但它看不到确认码、动态码和交易密码；判档、确认、强验证、执行和审计全部在代码里。所以即使模型被注入或者产生幻觉，最坏的结果也只是一张需要用户本人确认的待确认单，钱不会被转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复杂任务怎么办？以生日为例：首页主动提醒“爱人 11 月 12 号生日”，点“帮我准备”，模型生成一个四步的 DAG 计划：先锁定一千元预算，再在生日前两天订花和蛋糕，最后当天提醒。用户只需要确认一次，代码把每一步的参数都绑定进哈希。到点由调度器执行，执行前会重新判档；中途可以暂停、去掉一步、全部回退或者转人工，回退时会自动释放预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权限分三档，全部由代码判定。绿档是查询类，自动执行；黄档展示详情，用户点确认按钮，确认码绑定全部参数的哈希、五分钟有效、只能用一次；红档要交易密码加短信动态码。我们特别设计了“风险对称”：冻结卡、下调限额这类降低风险的操作只要点确认，解冻、上调限额这类增加风险的操作必须强验证。另外，聊天里说“我确认了”是不算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红档操作需要两个因素：交易密码，加上发到绑定手机的模拟短信动态码。短信正文写明对象和金额，比如“向刘芳转账两千元”，这叫所见即所签，防止骗子诱导用户把验证码转发出去。动态码只出现在右边的模拟手机里，不进聊天、不给模型、不进日志。交易密码或动态码连续错三次，红档操作锁十分钟，锁状态存在数据库里，重启服务也不会清零——评测里我们专门重启后端验证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诱导转账是赛题点名的第一类风险。我们有三层：第一，收款方在风险名单上的直接拒绝，比如“客服让我把钱转到安全账户”，代码在调用模型之前就拦下并解释骗局；第二，每笔转账由代码打零到一百分，看是不是首次收款、金额是否异常、有没有诈骗话术和催促用语；第三，六十分以上强制升为红档，加三十秒冷静期，默认二十四小时后到账，到账前一句“撤回刚才那笔”就能全额退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于注入、信息套取和越权，单靠提示词是挡不住的，所以我们设了五层，每一层都由代码兜底。第一层输入守卫，命中就不调用模型，十分钟三次直接转为只读；第二层把交易备注、产品说明这类外部文本包起来，明确是数据不是指令；第三层参数溯源，转账金额和收款人必须来自用户原话——右边这个例子，用户说“按那条备注说的办”，小安拒绝了，即使模型被说服，备注里的号码也过不了溯源；第四、五层是代码判档和代码渲染确认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幻觉防护分两头。写操作之前做参数溯源：金额、收款人、日期必须能追溯到用户本人说过的话，代码能解析“两百”“整五百”“一万二”“下礼拜五”这类口语；工具结果和模型的推测都不算数。回复之后做事实校验：回复里的每个数字都要在本轮的工具结果里找得到，对不上就用代码模板重写；没有成功回执的时候，不允许说“已转账”“已完成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赛题要求生成的代码在受限、可监控的环境里运行。比如“周末和工作日外卖平均各花多少”，固定报表回答不了，我们让模型写一段分析代码。运行前先做语法树白名单检查，只允许少数标准库，禁止 eval、open 这类危险调用；运行时用独立子进程，限制 CPU、内存和时间，并放进没有网卡的网络命名空间；数据只给本人交易的只读快照；代码哈希和运行结果都写进审计。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体验上，小安是手机银行风格，可以添加到主屏幕。首页会主动提醒生日、续费、涨价和可疑交易；对话支持省略和改主意，比如“再给小张转两百”“第二笔算了”“改成三百”；遇到两个“小李”会给选项，问天气、机票、个股推荐会说明能力边界。评测里任务平均 1.17 轮办成，每轮大约 2.4 秒。右侧的“安全透视”实时展示每一步：守卫、模型提议、溯源、判档、事实校验和审计。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怎么证明？我们自建了 151 条黑盒评测用例：任务 87 条、安全 45 条、体验 19 条，用真实大模型、只通过 HTTP 接口测试。评测集由不看后端实现的一方编写。结果：任务完成率 97.7%，攻击拦截率 100%，工具调用正确率 99.2%，体验用例 100%；每一轮回复都检查有没有泄露动态码、交易密码、确认码和完整手机号，泄露 0 次；正常请求被误拦 0/107。没通过的用例我们照实写在测试报告里。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也如实列出边界。第一是大模型的随机性，偶尔会多问一轮，但不影响资金安全，因为执行仍然要确认。第二，规则守卫可能漏掉新话术，但后面还有参数溯源和代码判档兜底。第三，沙箱的网络隔离依赖操作系统支持，不支持时会如实标注。第四，审计哈希链能发现篡改，但不能防止整库删除。第五，短信、风险名单和客服都是模拟的，真实部署需要接入真实数据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总结一下：小安做到了三件事——说一句就能办，每一步都有代码把关，并且用独立的黑盒评测来证明。我们团队是三名大一学生，开发中使用了 AI 编程助手：一个会话写引擎和单元测试，另一个会话写前端、评测集和材料，评测集由不看实现的一方独立编写。模型提议，代码裁决。谢谢各位评委。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C0E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小安 · 银行 AI 智能体　｜　全部账户、资金、商户、短信均为模拟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C0E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0E8"/>
                </a:solidFill>
              </a:rPr>
              <a:t>FinTechathon 2026 · 人工智能赛道 · 银行 AI 智能体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小安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说一句就能办，每一步都有代码把关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9EE0C5"/>
                </a:solidFill>
              </a:rPr>
              <a:t>模型提议，代码裁决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D7E1F8"/>
                </a:solidFill>
              </a:rPr>
              <a:t>六大场景 · 三档权限 · 强验证 · 反诈 · 防幻觉 · 沙箱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89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E8"/>
                </a:solidFill>
              </a:rPr>
              <a:t>全部账户、资金、商户、短信均为模拟数据</a:t>
            </a:r>
            <a:endParaRPr lang="en-US" sz="1200" dirty="0"/>
          </a:p>
        </p:txBody>
      </p:sp>
      <p:pic>
        <p:nvPicPr>
          <p:cNvPr id="7" name="Image 0" descr="界面截图：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502920"/>
            <a:ext cx="2704197" cy="58521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8" name="Image 1" descr="界面截图：03-red-strong-au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914400"/>
            <a:ext cx="2366173" cy="51206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C0E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银行 App 的两个痛点</a:t>
            </a:r>
            <a:endParaRPr lang="en-US" sz="3000" dirty="0"/>
          </a:p>
        </p:txBody>
      </p:sp>
      <p:sp>
        <p:nvSpPr>
          <p:cNvPr id="3" name="副标题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功能越来越多，操作路径越来越长；让 AI 代办，又担心它“乱转钱”</a:t>
            </a:r>
            <a:endParaRPr lang="en-US" sz="1500" dirty="0"/>
          </a:p>
        </p:txBody>
      </p:sp>
      <p:sp>
        <p:nvSpPr>
          <p:cNvPr id="4" name="卡片-操作路径长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圆标-长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长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013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操作路径长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96312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给妈妈转一笔生活费、查一笔可疑扣款、取消一个忘了的会员，往往要在菜单里点五六层。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老人和不熟悉 App 的用户最吃力；而他们恰恰是电信诈骗的主要目标。</a:t>
            </a:r>
            <a:endParaRPr lang="en-US" sz="1400" dirty="0"/>
          </a:p>
        </p:txBody>
      </p:sp>
      <p:sp>
        <p:nvSpPr>
          <p:cNvPr id="9" name="卡片-AI 代办的安全顾虑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圆标-险"/>
          <p:cNvSpPr/>
          <p:nvPr/>
        </p:nvSpPr>
        <p:spPr>
          <a:xfrm>
            <a:off x="6492240" y="182880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险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8013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AI 代办的安全顾虑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496312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大模型会被话术诱导、会被交易备注里的文字“注入”、会编造数字、会把没做的事说成“已完成”。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如果让模型直接决定转账，风险不可接受。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六大场景，18 项典型能力都能用口语办</a:t>
            </a:r>
            <a:endParaRPr lang="en-US" sz="3000" dirty="0"/>
          </a:p>
        </p:txBody>
      </p:sp>
      <p:sp>
        <p:nvSpPr>
          <p:cNvPr id="3" name="副标题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以下都是真实输入，在评测集中逐条验证</a:t>
            </a:r>
            <a:endParaRPr lang="en-US" sz="1500" dirty="0"/>
          </a:p>
        </p:txBody>
      </p:sp>
      <p:sp>
        <p:nvSpPr>
          <p:cNvPr id="4" name="卡片-智能转账"/>
          <p:cNvSpPr/>
          <p:nvPr/>
        </p:nvSpPr>
        <p:spPr>
          <a:xfrm>
            <a:off x="548640" y="1554480"/>
            <a:ext cx="36118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圆标-转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转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智能转账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5059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“明天给小王转200，备注还饭钱”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按称呼/手机号/用途转账、定时、AA、大额、延时到账</a:t>
            </a:r>
            <a:endParaRPr lang="en-US" sz="1400" dirty="0"/>
          </a:p>
        </p:txBody>
      </p:sp>
      <p:sp>
        <p:nvSpPr>
          <p:cNvPr id="9" name="卡片-账单分析"/>
          <p:cNvSpPr/>
          <p:nvPr/>
        </p:nvSpPr>
        <p:spPr>
          <a:xfrm>
            <a:off x="4343400" y="1554480"/>
            <a:ext cx="36118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圆标-账"/>
          <p:cNvSpPr/>
          <p:nvPr/>
        </p:nvSpPr>
        <p:spPr>
          <a:xfrm>
            <a:off x="4572000" y="17830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账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755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账单分析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45059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“帮我看看有没有异常扣款”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分类统计、月报年报、异常识别、资金预估</a:t>
            </a:r>
            <a:endParaRPr lang="en-US" sz="1400" dirty="0"/>
          </a:p>
        </p:txBody>
      </p:sp>
      <p:sp>
        <p:nvSpPr>
          <p:cNvPr id="14" name="卡片-理财"/>
          <p:cNvSpPr/>
          <p:nvPr/>
        </p:nvSpPr>
        <p:spPr>
          <a:xfrm>
            <a:off x="8138160" y="1554480"/>
            <a:ext cx="36118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圆标-理"/>
          <p:cNvSpPr/>
          <p:nvPr/>
        </p:nvSpPr>
        <p:spPr>
          <a:xfrm>
            <a:off x="8366760" y="178308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理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755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理财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45059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“我想买点稳的理财”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风险测评、推荐对比、申购赎回、适当性拦截</a:t>
            </a:r>
            <a:endParaRPr lang="en-US" sz="1400" dirty="0"/>
          </a:p>
        </p:txBody>
      </p:sp>
      <p:sp>
        <p:nvSpPr>
          <p:cNvPr id="19" name="卡片-卡片管理"/>
          <p:cNvSpPr/>
          <p:nvPr/>
        </p:nvSpPr>
        <p:spPr>
          <a:xfrm>
            <a:off x="548640" y="3931920"/>
            <a:ext cx="36118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圆标-卡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卡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133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卡片管理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82803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“我卡丢了”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冻结/解冻、挂失/解挂、限额、虚拟卡</a:t>
            </a:r>
            <a:endParaRPr lang="en-US" sz="1400" dirty="0"/>
          </a:p>
        </p:txBody>
      </p:sp>
      <p:sp>
        <p:nvSpPr>
          <p:cNvPr id="24" name="卡片-订阅 / 代扣"/>
          <p:cNvSpPr/>
          <p:nvPr/>
        </p:nvSpPr>
        <p:spPr>
          <a:xfrm>
            <a:off x="4343400" y="3931920"/>
            <a:ext cx="36118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圆标-订"/>
          <p:cNvSpPr/>
          <p:nvPr/>
        </p:nvSpPr>
        <p:spPr>
          <a:xfrm>
            <a:off x="4572000" y="416052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订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133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订阅 / 代扣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82803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“健身会员不要了”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自动识别、续费/涨价/闲置提醒、一键取消</a:t>
            </a:r>
            <a:endParaRPr lang="en-US" sz="1400" dirty="0"/>
          </a:p>
        </p:txBody>
      </p:sp>
      <p:sp>
        <p:nvSpPr>
          <p:cNvPr id="29" name="卡片-跨场景联动"/>
          <p:cNvSpPr/>
          <p:nvPr/>
        </p:nvSpPr>
        <p:spPr>
          <a:xfrm>
            <a:off x="8138160" y="3931920"/>
            <a:ext cx="36118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圆标-联"/>
          <p:cNvSpPr/>
          <p:nvPr/>
        </p:nvSpPr>
        <p:spPr>
          <a:xfrm>
            <a:off x="8366760" y="416052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6676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联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4133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跨场景联动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82803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首页提醒爱人生日 → 一键生成计划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锁预算、到点订花和蛋糕、可回退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架构：模型提议，代码裁决</a:t>
            </a:r>
            <a:endParaRPr lang="en-US" sz="3000" dirty="0"/>
          </a:p>
        </p:txBody>
      </p:sp>
      <p:pic>
        <p:nvPicPr>
          <p:cNvPr id="3" name="Image 0" descr="系统架构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852160" cy="5106597"/>
          </a:xfrm>
          <a:prstGeom prst="rect">
            <a:avLst/>
          </a:prstGeom>
        </p:spPr>
      </p:pic>
      <p:sp>
        <p:nvSpPr>
          <p:cNvPr id="4" name="圆标-提"/>
          <p:cNvSpPr/>
          <p:nvPr/>
        </p:nvSpPr>
        <p:spPr>
          <a:xfrm>
            <a:off x="6858000" y="141732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提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32588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模型只负责“提议”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听懂口语、规划步骤、选择工具、写一两句回复。看不到确认码、动态码、交易密码。</a:t>
            </a:r>
            <a:endParaRPr lang="en-US" sz="1500" dirty="0"/>
          </a:p>
        </p:txBody>
      </p:sp>
      <p:sp>
        <p:nvSpPr>
          <p:cNvPr id="7" name="圆标-裁"/>
          <p:cNvSpPr/>
          <p:nvPr/>
        </p:nvSpPr>
        <p:spPr>
          <a:xfrm>
            <a:off x="6858000" y="29718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裁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88036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代码负责“裁决”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判档、累计金额、确认、强验证、执行前复查、执行、审计，全部在安全内核里。</a:t>
            </a:r>
            <a:endParaRPr lang="en-US" sz="1500" dirty="0"/>
          </a:p>
        </p:txBody>
      </p:sp>
      <p:sp>
        <p:nvSpPr>
          <p:cNvPr id="10" name="圆标-单"/>
          <p:cNvSpPr/>
          <p:nvPr/>
        </p:nvSpPr>
        <p:spPr>
          <a:xfrm>
            <a:off x="6858000" y="452628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单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43484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最坏情况：一张待确认单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即使模型被注入或产生幻觉，它也只能提出一张需要用户本人确认的单子。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Agent 规划：工具调用 + DAG 计划，一次确认</a:t>
            </a:r>
            <a:endParaRPr lang="en-US" sz="3000" dirty="0"/>
          </a:p>
        </p:txBody>
      </p:sp>
      <p:sp>
        <p:nvSpPr>
          <p:cNvPr id="3" name="副标题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复杂任务拆成有依赖关系的步骤，代码校验后整体确认、到点执行、随时可回退</a:t>
            </a:r>
            <a:endParaRPr lang="en-US" sz="1500" dirty="0"/>
          </a:p>
        </p:txBody>
      </p:sp>
      <p:pic>
        <p:nvPicPr>
          <p:cNvPr id="4" name="Image 0" descr="生日筹备计划 D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663440" cy="4649492"/>
          </a:xfrm>
          <a:prstGeom prst="rect">
            <a:avLst/>
          </a:prstGeom>
        </p:spPr>
      </p:pic>
      <p:pic>
        <p:nvPicPr>
          <p:cNvPr id="5" name="Image 1" descr="界面截图：09-plan-run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463040"/>
            <a:ext cx="2197160" cy="47548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7909560" y="1554480"/>
            <a:ext cx="3749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工具调用：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DeepSeek 原生工具调用，一轮最多 6 步，可并行（如同时解析日期和联系人）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一次确认整个计划：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绑定全部节点参数哈希，档位取最高档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到点执行：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调度器按执行日重新判档，超出授权就不执行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可中断：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暂停、继续、去掉一步、全部回退（释放预算）、转人工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权限三档，全部由代码判定</a:t>
            </a:r>
            <a:endParaRPr lang="en-US" sz="3000" dirty="0"/>
          </a:p>
        </p:txBody>
      </p:sp>
      <p:sp>
        <p:nvSpPr>
          <p:cNvPr id="3" name="副标题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模型输出里没有“档位”这个字段，也无法传入</a:t>
            </a:r>
            <a:endParaRPr lang="en-US" sz="1500" dirty="0"/>
          </a:p>
        </p:txBody>
      </p:sp>
      <p:sp>
        <p:nvSpPr>
          <p:cNvPr id="4" name="卡片-绿档 · 自动执行"/>
          <p:cNvSpPr/>
          <p:nvPr/>
        </p:nvSpPr>
        <p:spPr>
          <a:xfrm>
            <a:off x="548640" y="1554480"/>
            <a:ext cx="6949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圆标-绿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绿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绿档 · 自动执行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5059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查询、统计、月报年报、异常识别、产品对比、沙箱分析</a:t>
            </a:r>
            <a:endParaRPr lang="en-US" sz="1400" dirty="0"/>
          </a:p>
        </p:txBody>
      </p:sp>
      <p:sp>
        <p:nvSpPr>
          <p:cNvPr id="9" name="卡片-黄档 · 确认按钮"/>
          <p:cNvSpPr/>
          <p:nvPr/>
        </p:nvSpPr>
        <p:spPr>
          <a:xfrm>
            <a:off x="548640" y="3127248"/>
            <a:ext cx="6949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圆标-黄"/>
          <p:cNvSpPr/>
          <p:nvPr/>
        </p:nvSpPr>
        <p:spPr>
          <a:xfrm>
            <a:off x="777240" y="3355848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55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黄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328416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黄档 · 确认按钮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233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当日累计 ≤ ¥1,000 的转账、冻结卡、赎回、取消订阅、计划确认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确认码绑定参数哈希、5 分钟、一次性</a:t>
            </a:r>
            <a:endParaRPr lang="en-US" sz="1400" dirty="0"/>
          </a:p>
        </p:txBody>
      </p:sp>
      <p:sp>
        <p:nvSpPr>
          <p:cNvPr id="14" name="卡片-红档 · 强验证"/>
          <p:cNvSpPr/>
          <p:nvPr/>
        </p:nvSpPr>
        <p:spPr>
          <a:xfrm>
            <a:off x="548640" y="4700016"/>
            <a:ext cx="6949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圆标-红"/>
          <p:cNvSpPr/>
          <p:nvPr/>
        </p:nvSpPr>
        <p:spPr>
          <a:xfrm>
            <a:off x="777240" y="4928616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928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红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90118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红档 · 强验证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59612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大额转账、解冻、挂失、上调限额、理财申购、高风险转账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交易密码 + 模拟短信动态码</a:t>
            </a:r>
            <a:endParaRPr lang="en-US" sz="1400" dirty="0"/>
          </a:p>
        </p:txBody>
      </p:sp>
      <p:sp>
        <p:nvSpPr>
          <p:cNvPr id="19" name="风险对称"/>
          <p:cNvSpPr/>
          <p:nvPr/>
        </p:nvSpPr>
        <p:spPr>
          <a:xfrm>
            <a:off x="7863840" y="1554480"/>
            <a:ext cx="3794760" cy="4562856"/>
          </a:xfrm>
          <a:prstGeom prst="roundRect">
            <a:avLst>
              <a:gd name="adj" fmla="val 28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1783080"/>
            <a:ext cx="3291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EE0C5"/>
                </a:solidFill>
              </a:rPr>
              <a:t>风险对称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降低风险的操作低摩擦：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冻结卡、下调限额 → 黄档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增加风险的操作强验证：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解冻、上调限额、挂失解挂 → 红档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D58A"/>
                </a:solidFill>
              </a:rPr>
              <a:t>聊天里说“我确认了”不算确认。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红档强验证与熔断</a:t>
            </a:r>
            <a:endParaRPr lang="en-US" sz="3000" dirty="0"/>
          </a:p>
        </p:txBody>
      </p:sp>
      <p:sp>
        <p:nvSpPr>
          <p:cNvPr id="3" name="副标题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两个因素，所见即所签；连续失败就锁定，重启也不清零</a:t>
            </a:r>
            <a:endParaRPr lang="en-US" sz="1500" dirty="0"/>
          </a:p>
        </p:txBody>
      </p:sp>
      <p:pic>
        <p:nvPicPr>
          <p:cNvPr id="4" name="Image 0" descr="界面截图：03-red-strong-a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239413" cy="48463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5" name="Image 1" descr="桌面端：强验证面板与模拟手机短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093" y="1463040"/>
            <a:ext cx="4754880" cy="314684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183880" y="1463040"/>
            <a:ext cx="34747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两个因素：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交易密码（PBKDF2 存储）+ 绑定手机的模拟短信动态码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所见即所签：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短信写明“向 刘芳 转账 2,000.00 元”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动态码只在模拟手机里，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不进聊天、不给模型、不进日志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3 次失败锁 10 分钟，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锁状态写在库里，重启不清零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反诈守护：评分升档 + 冷静期 + 延时到账可撤回</a:t>
            </a:r>
            <a:endParaRPr lang="en-US" sz="3000" dirty="0"/>
          </a:p>
        </p:txBody>
      </p:sp>
      <p:sp>
        <p:nvSpPr>
          <p:cNvPr id="3" name="副标题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诱导转账是赛题点名的第一类风险</a:t>
            </a:r>
            <a:endParaRPr lang="en-US" sz="1500" dirty="0"/>
          </a:p>
        </p:txBody>
      </p:sp>
      <p:pic>
        <p:nvPicPr>
          <p:cNvPr id="4" name="Image 0" descr="反诈评分流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223760" cy="2335519"/>
          </a:xfrm>
          <a:prstGeom prst="rect">
            <a:avLst/>
          </a:prstGeom>
        </p:spPr>
      </p:pic>
      <p:pic>
        <p:nvPicPr>
          <p:cNvPr id="5" name="Image 1" descr="界面截图：05-fra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17320"/>
            <a:ext cx="2239413" cy="48463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548640" y="406908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风险名单直接拒绝：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“客服让我把钱转到安全账户”——在调用模型之前就拦下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代码打分 0–100：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首次收款人、金额异常、诈骗话术、催促用语、凌晨、短时多笔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≥ 60 分：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强制红档 + 30 秒冷静期 + 默认 24 小时后到账，到账前可撤回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注入、套取、越权：五层防线</a:t>
            </a:r>
            <a:endParaRPr lang="en-US" sz="3000" dirty="0"/>
          </a:p>
        </p:txBody>
      </p:sp>
      <p:sp>
        <p:nvSpPr>
          <p:cNvPr id="3" name="副标题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单靠提示词挡不住注入；我们让每一层都由代码兜底</a:t>
            </a:r>
            <a:endParaRPr lang="en-US" sz="1500" dirty="0"/>
          </a:p>
        </p:txBody>
      </p:sp>
      <p:sp>
        <p:nvSpPr>
          <p:cNvPr id="4" name="防线1"/>
          <p:cNvSpPr/>
          <p:nvPr/>
        </p:nvSpPr>
        <p:spPr>
          <a:xfrm>
            <a:off x="548640" y="1508760"/>
            <a:ext cx="694944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圆标-1"/>
          <p:cNvSpPr/>
          <p:nvPr/>
        </p:nvSpPr>
        <p:spPr>
          <a:xfrm>
            <a:off x="685800" y="164592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63624"/>
            <a:ext cx="5989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输入守卫　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中英文注入与信息套取规则，命中不调用模型；10 分钟 3 次 → 会话只读</a:t>
            </a:r>
            <a:endParaRPr lang="en-US" sz="1350" dirty="0"/>
          </a:p>
        </p:txBody>
      </p:sp>
      <p:sp>
        <p:nvSpPr>
          <p:cNvPr id="8" name="防线2"/>
          <p:cNvSpPr/>
          <p:nvPr/>
        </p:nvSpPr>
        <p:spPr>
          <a:xfrm>
            <a:off x="749808" y="2441448"/>
            <a:ext cx="674827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圆标-2"/>
          <p:cNvSpPr/>
          <p:nvPr/>
        </p:nvSpPr>
        <p:spPr>
          <a:xfrm>
            <a:off x="886968" y="2578608"/>
            <a:ext cx="530352" cy="53035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25786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2496312"/>
            <a:ext cx="5788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外部文本隔离　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交易备注、商户名、产品说明包进 &lt;external_data&gt;，界面标“外部备注”</a:t>
            </a:r>
            <a:endParaRPr lang="en-US" sz="1350" dirty="0"/>
          </a:p>
        </p:txBody>
      </p:sp>
      <p:sp>
        <p:nvSpPr>
          <p:cNvPr id="12" name="防线3"/>
          <p:cNvSpPr/>
          <p:nvPr/>
        </p:nvSpPr>
        <p:spPr>
          <a:xfrm>
            <a:off x="950976" y="3374136"/>
            <a:ext cx="6547104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圆标-3"/>
          <p:cNvSpPr/>
          <p:nvPr/>
        </p:nvSpPr>
        <p:spPr>
          <a:xfrm>
            <a:off x="1088136" y="3511296"/>
            <a:ext cx="530352" cy="5303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88136" y="3511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773936" y="3429000"/>
            <a:ext cx="5586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参数溯源　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金额、收款人、日期必须来自用户原话；备注里的号码无效</a:t>
            </a:r>
            <a:endParaRPr lang="en-US" sz="1350" dirty="0"/>
          </a:p>
        </p:txBody>
      </p:sp>
      <p:sp>
        <p:nvSpPr>
          <p:cNvPr id="16" name="防线4"/>
          <p:cNvSpPr/>
          <p:nvPr/>
        </p:nvSpPr>
        <p:spPr>
          <a:xfrm>
            <a:off x="1152144" y="4306824"/>
            <a:ext cx="6345936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圆标-4"/>
          <p:cNvSpPr/>
          <p:nvPr/>
        </p:nvSpPr>
        <p:spPr>
          <a:xfrm>
            <a:off x="1289304" y="4443984"/>
            <a:ext cx="530352" cy="53035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89304" y="44439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975104" y="4361688"/>
            <a:ext cx="53858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代码判档 + 工具白名单　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模型无法自降档位、无法调用未登记的工具</a:t>
            </a:r>
            <a:endParaRPr lang="en-US" sz="1350" dirty="0"/>
          </a:p>
        </p:txBody>
      </p:sp>
      <p:sp>
        <p:nvSpPr>
          <p:cNvPr id="20" name="防线5"/>
          <p:cNvSpPr/>
          <p:nvPr/>
        </p:nvSpPr>
        <p:spPr>
          <a:xfrm>
            <a:off x="1353312" y="5239512"/>
            <a:ext cx="6144768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圆标-5"/>
          <p:cNvSpPr/>
          <p:nvPr/>
        </p:nvSpPr>
        <p:spPr>
          <a:xfrm>
            <a:off x="1490472" y="5376672"/>
            <a:ext cx="530352" cy="53035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90472" y="5376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5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2176272" y="5294376"/>
            <a:ext cx="5184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代码渲染确认单　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用户看到的收款人和金额由代码生成，模型改不了</a:t>
            </a:r>
            <a:endParaRPr lang="en-US" sz="1350" dirty="0"/>
          </a:p>
        </p:txBody>
      </p:sp>
      <p:pic>
        <p:nvPicPr>
          <p:cNvPr id="24" name="Image 0" descr="界面截图：07-indirect-in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417320"/>
            <a:ext cx="2239413" cy="48463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幻觉防护：参数溯源 + 事实校验</a:t>
            </a:r>
            <a:endParaRPr lang="en-US" sz="3000" dirty="0"/>
          </a:p>
        </p:txBody>
      </p:sp>
      <p:sp>
        <p:nvSpPr>
          <p:cNvPr id="3" name="副标题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数字只能来自账本，没执行就不能说“已完成”</a:t>
            </a:r>
            <a:endParaRPr lang="en-US" sz="1500" dirty="0"/>
          </a:p>
        </p:txBody>
      </p:sp>
      <p:sp>
        <p:nvSpPr>
          <p:cNvPr id="4" name="卡片-参数溯源（写操作之前）"/>
          <p:cNvSpPr/>
          <p:nvPr/>
        </p:nvSpPr>
        <p:spPr>
          <a:xfrm>
            <a:off x="548640" y="1554480"/>
            <a:ext cx="548640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圆标-源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源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参数溯源（写操作之前）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50592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金额：用户原话中的表达，代码解析“两百”“整五百”“1.5k”“一万二”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收款人：原话里的姓名、称呼、手机号，或用户点选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日期：由“明天”“下礼拜五”“月底”换算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工具结果、交易备注、产品说明、模型推测都不能成为新资金动作的来源；不通过就追问，不出单。</a:t>
            </a:r>
            <a:endParaRPr lang="en-US" sz="1400" dirty="0"/>
          </a:p>
        </p:txBody>
      </p:sp>
      <p:sp>
        <p:nvSpPr>
          <p:cNvPr id="9" name="卡片-事实校验（回复之后）"/>
          <p:cNvSpPr/>
          <p:nvPr/>
        </p:nvSpPr>
        <p:spPr>
          <a:xfrm>
            <a:off x="6263640" y="1554480"/>
            <a:ext cx="539496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圆标-核"/>
          <p:cNvSpPr/>
          <p:nvPr/>
        </p:nvSpPr>
        <p:spPr>
          <a:xfrm>
            <a:off x="6492240" y="17830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核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7556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事实校验（回复之后）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450592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回复里的金额、百分比、日期、笔数逐一和本轮工具结果比对（允许换算、取整、两数之和或差）。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对不上就用代码模板根据卡片重写，并记入审计；没有成功回执时禁止“已转账 / 已完成”。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所有卡片内容由代码根据账本生成。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沙箱：AI 生成的分析代码在受限环境运行</a:t>
            </a:r>
            <a:endParaRPr lang="en-US" sz="3000" dirty="0"/>
          </a:p>
        </p:txBody>
      </p:sp>
      <p:sp>
        <p:nvSpPr>
          <p:cNvPr id="3" name="副标题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固定报表回答不了的长尾问题，让模型写代码，但只在沙箱里跑</a:t>
            </a:r>
            <a:endParaRPr lang="en-US" sz="1500" dirty="0"/>
          </a:p>
        </p:txBody>
      </p:sp>
      <p:pic>
        <p:nvPicPr>
          <p:cNvPr id="4" name="Image 0" descr="界面截图：14-sand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239413" cy="48463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沙箱-运行前检查"/>
          <p:cNvSpPr/>
          <p:nvPr/>
        </p:nvSpPr>
        <p:spPr>
          <a:xfrm>
            <a:off x="3246120" y="1463040"/>
            <a:ext cx="84124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圆标-1"/>
          <p:cNvSpPr/>
          <p:nvPr/>
        </p:nvSpPr>
        <p:spPr>
          <a:xfrm>
            <a:off x="3474720" y="1700784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474720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15544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运行前检查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15544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AST 白名单：只允许 5 个标准库的 from-import；禁止下划线属性、eval、open、__import__；≤ 2000 字符</a:t>
            </a:r>
            <a:endParaRPr lang="en-US" sz="1350" dirty="0"/>
          </a:p>
        </p:txBody>
      </p:sp>
      <p:sp>
        <p:nvSpPr>
          <p:cNvPr id="10" name="沙箱-受限运行"/>
          <p:cNvSpPr/>
          <p:nvPr/>
        </p:nvSpPr>
        <p:spPr>
          <a:xfrm>
            <a:off x="3246120" y="2651760"/>
            <a:ext cx="84124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圆标-2"/>
          <p:cNvSpPr/>
          <p:nvPr/>
        </p:nvSpPr>
        <p:spPr>
          <a:xfrm>
            <a:off x="3474720" y="288950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0" y="2889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27432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受限运行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27432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子进程 python -I -S、空环境变量、临时目录；CPU 2 秒、内存 256MB、5 秒超时；无网络命名空间（有 Docker 时用 Docker）</a:t>
            </a:r>
            <a:endParaRPr lang="en-US" sz="1350" dirty="0"/>
          </a:p>
        </p:txBody>
      </p:sp>
      <p:sp>
        <p:nvSpPr>
          <p:cNvPr id="15" name="沙箱-最小数据"/>
          <p:cNvSpPr/>
          <p:nvPr/>
        </p:nvSpPr>
        <p:spPr>
          <a:xfrm>
            <a:off x="3246120" y="3840480"/>
            <a:ext cx="84124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圆标-3"/>
          <p:cNvSpPr/>
          <p:nvPr/>
        </p:nvSpPr>
        <p:spPr>
          <a:xfrm>
            <a:off x="3474720" y="4078224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74720" y="4078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206240" y="3931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最小数据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393192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只给本人交易的只读快照，没有数据库、没有密钥</a:t>
            </a:r>
            <a:endParaRPr lang="en-US" sz="1350" dirty="0"/>
          </a:p>
        </p:txBody>
      </p:sp>
      <p:sp>
        <p:nvSpPr>
          <p:cNvPr id="20" name="沙箱-可审计"/>
          <p:cNvSpPr/>
          <p:nvPr/>
        </p:nvSpPr>
        <p:spPr>
          <a:xfrm>
            <a:off x="3246120" y="5029200"/>
            <a:ext cx="84124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圆标-4"/>
          <p:cNvSpPr/>
          <p:nvPr/>
        </p:nvSpPr>
        <p:spPr>
          <a:xfrm>
            <a:off x="3474720" y="5266944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74720" y="5266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206240" y="51206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可审计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512064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代码哈希、引擎、耗时、退出状态写入审计；输出数字同样过事实校验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交互体验：主动、口语、会追问、能兜底</a:t>
            </a:r>
            <a:endParaRPr lang="en-US" sz="3000" dirty="0"/>
          </a:p>
        </p:txBody>
      </p:sp>
      <p:sp>
        <p:nvSpPr>
          <p:cNvPr id="3" name="副标题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手机银行风格 · 可添加到主屏幕 · “安全透视”让每一步决策看得见</a:t>
            </a:r>
            <a:endParaRPr lang="en-US" sz="1500" dirty="0"/>
          </a:p>
        </p:txBody>
      </p:sp>
      <p:pic>
        <p:nvPicPr>
          <p:cNvPr id="4" name="Image 0" descr="界面截图：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2154907" cy="46634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5" name="Image 1" descr="界面截图：12-subscrip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463040"/>
            <a:ext cx="2154907" cy="46634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6" name="Image 2" descr="界面截图：10-bil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63040"/>
            <a:ext cx="2154907" cy="46634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7" name="Text 2"/>
          <p:cNvSpPr txBox="1"/>
          <p:nvPr/>
        </p:nvSpPr>
        <p:spPr>
          <a:xfrm>
            <a:off x="7909560" y="1463040"/>
            <a:ext cx="3749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主动关怀：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生日、续费、涨价、异常、房租提醒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口语与上下文：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“再给小张转200”“第二笔算了”“改成300”“下礼拜五”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追问与兜底：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重名给选项；天气、机票、个股推荐说明边界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高效：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信息齐全的一句话一轮出单；平均 1.17 轮，每轮约 2.4 秒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独立黑盒评测：151 条用例，真实大模型</a:t>
            </a:r>
            <a:endParaRPr lang="en-US" sz="3000" dirty="0"/>
          </a:p>
        </p:txBody>
      </p:sp>
      <p:sp>
        <p:nvSpPr>
          <p:cNvPr id="3" name="副标题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只依据接口契约、演示数据规格和验收句编写，编写者不读后端实现；失败照实保留（2026-10-31）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97.7%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59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任务完成率（85/87）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463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100%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359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攻击拦截率（45/45）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99.2%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59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工具调用正确率（118/119）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3063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959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动态码/密码/确认码/手机号泄露次数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100%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59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体验用例（19/19）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4663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0%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5559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良性请求误拒（0/107）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0" y="1417320"/>
          <a:ext cx="525780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已知风险与边界（如实）</a:t>
            </a:r>
            <a:endParaRPr lang="en-US" sz="3000" dirty="0"/>
          </a:p>
        </p:txBody>
      </p:sp>
      <p:sp>
        <p:nvSpPr>
          <p:cNvPr id="3" name="副标题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完整清单见《安全自评报告》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45262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风险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影响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缓解 / 后续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大模型随机性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偶尔多问一轮、没给选项按钮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不影响资金安全：执行仍需确认；评测如实记录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规则守卫可能漏新话术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注入进入模型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参数溯源 + 代码判档 + 确认兜底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沙箱网络隔离依赖系统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无网络命名空间时降级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卡片如实标注；生产强制 Docker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审计防篡改不防删库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内部人员抵赖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生产环境把链头哈希写到外部存储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短信、风险名单、客服是模拟的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真实诈骗号码不在名单里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评分引擎不依赖名单；真实部署接入数据源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总结</a:t>
            </a:r>
            <a:endParaRPr lang="en-US" sz="3400" dirty="0"/>
          </a:p>
        </p:txBody>
      </p:sp>
      <p:sp>
        <p:nvSpPr>
          <p:cNvPr id="3" name="圆标-办"/>
          <p:cNvSpPr/>
          <p:nvPr/>
        </p:nvSpPr>
        <p:spPr>
          <a:xfrm>
            <a:off x="73152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办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554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说一句就能办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D7E1F8"/>
                </a:solidFill>
              </a:rPr>
              <a:t>六大场景 18 项能力；任务完成率 97.7%</a:t>
            </a:r>
            <a:endParaRPr lang="en-US" sz="2000" dirty="0"/>
          </a:p>
        </p:txBody>
      </p:sp>
      <p:sp>
        <p:nvSpPr>
          <p:cNvPr id="6" name="圆标-守"/>
          <p:cNvSpPr/>
          <p:nvPr/>
        </p:nvSpPr>
        <p:spPr>
          <a:xfrm>
            <a:off x="731520" y="2880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守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7889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每一步有代码把关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D7E1F8"/>
                </a:solidFill>
              </a:rPr>
              <a:t>三档权限、强验证、反诈、溯源、事实校验；攻击拦截率 100%</a:t>
            </a:r>
            <a:endParaRPr lang="en-US" sz="2000" dirty="0"/>
          </a:p>
        </p:txBody>
      </p:sp>
      <p:sp>
        <p:nvSpPr>
          <p:cNvPr id="9" name="圆标-证"/>
          <p:cNvSpPr/>
          <p:nvPr/>
        </p:nvSpPr>
        <p:spPr>
          <a:xfrm>
            <a:off x="731520" y="411480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114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证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40233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用独立评测证明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D7E1F8"/>
                </a:solidFill>
              </a:rPr>
              <a:t>151 条黑盒用例，失败如实保留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406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EE0C5"/>
                </a:solidFill>
              </a:rPr>
              <a:t>团队与 AI 辅助开发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1F8"/>
                </a:solidFill>
              </a:rPr>
              <a:t>三名大一学生；使用 AI 编程助手（Claude Code）开发：一个会话写引擎与单元测试，另一个会话写前端、评测集与材料，评测集由不读实现的一方独立编写。</a:t>
            </a:r>
            <a:endParaRPr lang="en-US" sz="1300" dirty="0"/>
          </a:p>
        </p:txBody>
      </p:sp>
      <p:pic>
        <p:nvPicPr>
          <p:cNvPr id="13" name="Image 0" descr="安全透视面板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63040"/>
            <a:ext cx="4114800" cy="272323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14" name="Text 11"/>
          <p:cNvSpPr txBox="1"/>
          <p:nvPr/>
        </p:nvSpPr>
        <p:spPr>
          <a:xfrm>
            <a:off x="7589520" y="4343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EE0C5"/>
                </a:solidFill>
              </a:rPr>
              <a:t>模型提议，代码裁决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4937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谢谢各位评委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C0E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小安 · 模拟银行">
  <a:themeElements>
    <a:clrScheme name="小安 · 模拟银行">
      <a:dk1>
        <a:srgbClr val="0F172A"/>
      </a:dk1>
      <a:lt1>
        <a:srgbClr val="FFFFFF"/>
      </a:lt1>
      <a:dk2>
        <a:srgbClr val="13204A"/>
      </a:dk2>
      <a:lt2>
        <a:srgbClr val="EEF2FB"/>
      </a:lt2>
      <a:accent1>
        <a:srgbClr val="1D4ED8"/>
      </a:accent1>
      <a:accent2>
        <a:srgbClr val="059669"/>
      </a:accent2>
      <a:accent3>
        <a:srgbClr val="C2710C"/>
      </a:accent3>
      <a:accent4>
        <a:srgbClr val="DC2626"/>
      </a:accent4>
      <a:accent5>
        <a:srgbClr val="7C3AED"/>
      </a:accent5>
      <a:accent6>
        <a:srgbClr val="64748B"/>
      </a:accent6>
      <a:hlink>
        <a:srgbClr val="1D4ED8"/>
      </a:hlink>
      <a:folHlink>
        <a:srgbClr val="7C3AED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FinTechathon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小安 · 银行 AI 智能体 答辩</dc:title>
  <dc:subject>PptxGenJS Presentation</dc:subject>
  <dc:creator>FinTechathon 2026 参赛队</dc:creator>
  <cp:lastModifiedBy>FinTechathon 2026 参赛队</cp:lastModifiedBy>
  <cp:revision>1</cp:revision>
  <dcterms:created xsi:type="dcterms:W3CDTF">2026-10-30T16:47:13Z</dcterms:created>
  <dcterms:modified xsi:type="dcterms:W3CDTF">2026-10-30T16:47:13Z</dcterms:modified>
</cp:coreProperties>
</file>