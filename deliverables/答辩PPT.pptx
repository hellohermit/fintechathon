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22"/>
    <p:sldId id="257" r:id="rId3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0" r:id="rId6"/>
    <p:sldId id="267" r:id="rId13"/>
    <p:sldId id="268" r:id="rId14"/>
    <p:sldId id="269" r:id="rId15"/>
    <p:sldId id="272" r:id="rId23"/>
    <p:sldId id="273" r:id="rId24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1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2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本页钩子：小安用口语办理模拟银行业务，每一步由代码控制执行。</a:t>
            </a:r>
          </a:p>
          <a:p/>
          <a:p>
            <a:r>
              <a:t>参考讲述时间：15秒。全稿计划9分钟，属安排值，未作真人计时。初赛提交说明以页面自读为主。</a:t>
            </a:r>
          </a:p>
          <a:p/>
          <a:p>
            <a:r>
              <a:t>高概率问答：</a:t>
            </a:r>
          </a:p>
          <a:p>
            <a:r>
              <a:t>为什么要做自然语言银行助手？</a:t>
            </a:r>
          </a:p>
          <a:p>
            <a:r>
              <a:t>我们希望用户能用熟悉的口语表达转账、查账和管理订阅等需求。项目重点是让表达更灵活，同时把写操作授权留在代码和明确的用户操作中。当前证据是模拟流程和有限评测，尚未证明真实用户的效率收益。</a:t>
            </a:r>
          </a:p>
          <a:p/>
          <a:p>
            <a:r>
              <a:t>依据：</a:t>
            </a:r>
          </a:p>
          <a:p>
            <a:r>
              <a:t>deliverables/讲稿.md，第1页；docs/sprint/SEED.md，演示数据定义。</a:t>
            </a:r>
          </a:p>
          <a:p>
            <a:r>
              <a:t>https://fintechathon.g-ican.com/#/rule（初赛PPT必交、汇报不超过10分钟；评分40%/30%/30%）。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本页钩子：AIR 已把对话办事带入产品，小安用分级权限和代码复查控制模拟执行。</a:t>
            </a:r>
          </a:p>
          <a:p/>
          <a:p>
            <a:r>
              <a:t>参考讲述时间：30秒。全稿计划9分钟，属安排值，未作真人计时。初赛提交说明以页面自读为主。</a:t>
            </a:r>
          </a:p>
          <a:p/>
          <a:p>
            <a:r>
              <a:t>依据：</a:t>
            </a:r>
          </a:p>
          <a:p>
            <a:r>
              <a:t>https://www.revolut.com/news/revolut_enters_new_era_of_money_intelligence_with_launch_of_ai_assistant/</a:t>
            </a:r>
          </a:p>
          <a:p>
            <a:r>
              <a:t>https://www.revolut.com/blog/post/air-ai-by-revolut/</a:t>
            </a:r>
          </a:p>
          <a:p>
            <a:r>
              <a:t>官方仅称敏感操作需生物识别批准，不应说每笔交易。第三方AI合作方不保留数据、不用于训练，不等于金融数据不进入模型。</a:t>
            </a:r>
          </a:p>
          <a:p>
            <a:r>
              <a:t>src/core/plans.py:290-297；docs/安全自评报告.md，R12。</a:t>
            </a:r>
          </a:p>
          <a:p>
            <a:r>
              <a:t>https://fintechathon.g-ican.com/#/rule（初赛PPT必交、汇报不超过10分钟；评分40%/30%/30%）。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本页钩子：六大场景进入评测，AA通知、虚拟卡和商户订单仍有明确的模拟范围。</a:t>
            </a:r>
          </a:p>
          <a:p/>
          <a:p>
            <a:r>
              <a:t>参考讲述时间：35秒。全稿计划9分钟，属安排值，未作真人计时。初赛提交说明以页面自读为主。</a:t>
            </a:r>
          </a:p>
          <a:p/>
          <a:p>
            <a:r>
              <a:t>高概率问答：</a:t>
            </a:r>
          </a:p>
          <a:p>
            <a:r>
              <a:t>六大场景都已经真实落地了吗？</a:t>
            </a:r>
          </a:p>
          <a:p>
            <a:r>
              <a:t>这是模拟原型，卡片申请限模拟虚拟卡，花与蛋糕等商户订单也是模拟。AA平台内用户可收到模拟通知，外部联系人通知尚未完成。我们没有把这些流程说成真实银行或真实商户已经办理。</a:t>
            </a:r>
          </a:p>
          <a:p/>
          <a:p>
            <a:r>
              <a:t>依据：</a:t>
            </a:r>
          </a:p>
          <a:p>
            <a:r>
              <a:t>bench/reports/latest.md，T4-a、L3-a、W3-a、K5-a、S3-a、X5-b。</a:t>
            </a:r>
          </a:p>
          <a:p>
            <a:r>
              <a:t>src/core/ops_more.py:160-167；src/core/ops_cards.py:180-196。</a:t>
            </a:r>
          </a:p>
          <a:p>
            <a:r>
              <a:t>https://fintechathon.g-ican.com/#/rule（初赛PPT必交、汇报不超过10分钟；评分40%/30%/30%）。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本页钩子：模型负责理解和提议，代码负责授权、复查和执行。</a:t>
            </a:r>
          </a:p>
          <a:p/>
          <a:p>
            <a:r>
              <a:t>参考讲述时间：40秒。全稿计划9分钟，属安排值，未作真人计时。初赛提交说明以页面自读为主。</a:t>
            </a:r>
          </a:p>
          <a:p/>
          <a:p>
            <a:r>
              <a:t>高概率问答：</a:t>
            </a:r>
          </a:p>
          <a:p>
            <a:r>
              <a:t>它和普通聊天机器人有什么区别？</a:t>
            </a:r>
          </a:p>
          <a:p>
            <a:r>
              <a:t>小安把口语请求转成工具提议或计划，再由代码控制业务流程。涉及资金和高风险写操作时，模型提议不能代替用户授权。当前展示的是模拟银行原型。</a:t>
            </a:r>
          </a:p>
          <a:p/>
          <a:p>
            <a:r>
              <a:t>“模型提议，代码裁决”具体指什么？</a:t>
            </a:r>
          </a:p>
          <a:p>
            <a:r>
              <a:t>模型理解口语、拆解步骤和选择工具。代码决定档位、确认要求、执行前复查和实际执行，并生成回执。模型不能自行宣布某笔资金操作已经获得授权。</a:t>
            </a:r>
          </a:p>
          <a:p/>
          <a:p>
            <a:r>
              <a:t>依据：</a:t>
            </a:r>
          </a:p>
          <a:p>
            <a:r>
              <a:t>src/core/kernel.py:332-373,540-558；docs/技术文档.md:9。</a:t>
            </a:r>
          </a:p>
          <a:p>
            <a:r>
              <a:t>https://fintechathon.g-ican.com/#/rule（初赛PPT必交、汇报不超过10分钟；评分40%/30%/30%）。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本页钩子：飞书可查可确认小额，红档回App，真机范围按队内记录说明。</a:t>
            </a:r>
          </a:p>
          <a:p/>
          <a:p>
            <a:r>
              <a:t>参考讲述时间：35秒。全稿计划9分钟，属安排值，未作真人计时。初赛提交说明以页面自读为主。</a:t>
            </a:r>
          </a:p>
          <a:p/>
          <a:p>
            <a:r>
              <a:t>高概率问答：</a:t>
            </a:r>
          </a:p>
          <a:p>
            <a:r>
              <a:t>飞书多渠道有实际验证，还是只有界面？</a:t>
            </a:r>
          </a:p>
          <a:p>
            <a:r>
              <a:t>代码实现了已绑定用户私聊、查询、小额卡片确认以及红档回App待办。队内记录确认绑定、私聊和小额卡片确认已真机走通。大额回App强验证另有队内确认，但未见独立验收记录，动态码不发送到飞书。</a:t>
            </a:r>
          </a:p>
          <a:p/>
          <a:p>
            <a:r>
              <a:t>依据：</a:t>
            </a:r>
          </a:p>
          <a:p>
            <a:r>
              <a:t>src/channels/feishu.py:54-55,75-80,84-109,139-146。</a:t>
            </a:r>
          </a:p>
          <a:p>
            <a:r>
              <a:t>docs/sprint/status-C.md:23（原三项范围）；:7,67及deliverables/答辩准备/模拟提问.md:143-146（队长11-01确认来源）。</a:t>
            </a:r>
          </a:p>
          <a:p>
            <a:r>
              <a:t>https://fintechathon.g-ican.com/#/rule（初赛PPT必交、汇报不超过10分钟；评分40%/30%/30%）。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本页钩子：一次确认绑定计划，回退只取消未执行步骤并释放剩余预算。</a:t>
            </a:r>
          </a:p>
          <a:p/>
          <a:p>
            <a:r>
              <a:t>参考讲述时间：35秒。全稿计划9分钟，属安排值，未作真人计时。初赛提交说明以页面自读为主。</a:t>
            </a:r>
          </a:p>
          <a:p/>
          <a:p>
            <a:r>
              <a:t>高概率问答：</a:t>
            </a:r>
          </a:p>
          <a:p>
            <a:r>
              <a:t>DAG计划解决什么问题？</a:t>
            </a:r>
          </a:p>
          <a:p>
            <a:r>
              <a:t>DAG把复杂任务表示成有依赖关系的步骤，例如先锁预算，再订花和蛋糕。确认绑定计划节点的参数，到点仍由代码复查后执行。计划确认不等于所有步骤已经完成。</a:t>
            </a:r>
          </a:p>
          <a:p/>
          <a:p>
            <a:r>
              <a:t>计划回退会自动退款，转人工会有人接吗？</a:t>
            </a:r>
          </a:p>
          <a:p>
            <a:r>
              <a:t>回退只取消未执行步骤并释放剩余预算，已执行订单不会自动退款。当前转人工只生成本地模拟接管事项。它没有连接真实客服，也不能承诺客服会联系用户。</a:t>
            </a:r>
          </a:p>
          <a:p/>
          <a:p>
            <a:r>
              <a:t>依据：</a:t>
            </a:r>
          </a:p>
          <a:p>
            <a:r>
              <a:t>src/core/plans.py:273-297；deliverables/PPT素材/d3b-生日计划-DAG详情.png。</a:t>
            </a:r>
          </a:p>
          <a:p>
            <a:r>
              <a:t>https://fintechathon.g-ican.com/#/rule（初赛PPT必交、汇报不超过10分钟；评分40%/30%/30%）。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本页钩子：档位由代码判定，降低风险的操作更快，增加风险的操作更严。</a:t>
            </a:r>
          </a:p>
          <a:p/>
          <a:p>
            <a:r>
              <a:t>参考讲述时间：35秒。全稿计划9分钟，属安排值，未作真人计时。初赛提交说明以页面自读为主。</a:t>
            </a:r>
          </a:p>
          <a:p/>
          <a:p>
            <a:r>
              <a:t>高概率问答：</a:t>
            </a:r>
          </a:p>
          <a:p>
            <a:r>
              <a:t>三档权限怎样划分，一千元安全吗？</a:t>
            </a:r>
          </a:p>
          <a:p>
            <a:r>
              <a:t>查询可自动执行，小额写操作需要按钮确认，大额或高风险操作需要强验证。转账的一千元日累计门槛是演示设定，高风险仍会升档。这个数字不能直接作为真实银行的安全标准。</a:t>
            </a:r>
          </a:p>
          <a:p/>
          <a:p>
            <a:r>
              <a:t>依据：</a:t>
            </a:r>
          </a:p>
          <a:p>
            <a:r>
              <a:t>src/core/ops.py:109-121；src/core/kernel.py:339-367；src/core/kernel.py:24-25,229-235。</a:t>
            </a:r>
          </a:p>
          <a:p>
            <a:r>
              <a:t>https://fintechathon.g-ican.com/#/rule（初赛PPT必交、汇报不超过10分钟；评分40%/30%/30%）。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本页钩子：用户核对收款人与金额后完成模拟强验证，连续失败会锁定红档操作。</a:t>
            </a:r>
          </a:p>
          <a:p/>
          <a:p>
            <a:r>
              <a:t>参考讲述时间：30秒。全稿计划9分钟，属安排值，未作真人计时。初赛提交说明以页面自读为主。</a:t>
            </a:r>
          </a:p>
          <a:p/>
          <a:p>
            <a:r>
              <a:t>高概率问答：</a:t>
            </a:r>
          </a:p>
          <a:p>
            <a:r>
              <a:t>模拟短信真的算独立双因素验证吗？</a:t>
            </a:r>
          </a:p>
          <a:p>
            <a:r>
              <a:t>原型实现了交易密码加动态码的验证流程，但短信和手机都在同一模拟环境中。它没有证明真实短信通道或独立设备的安全性。真实部署还需要接入并验收实际认证服务。</a:t>
            </a:r>
          </a:p>
          <a:p/>
          <a:p>
            <a:r>
              <a:t>依据：</a:t>
            </a:r>
          </a:p>
          <a:p>
            <a:r>
              <a:t>src/core/kernel.py:392-411,480-502；deliverables/PPT素材/d4-红档强验证-桌面含模拟短信.png。</a:t>
            </a:r>
          </a:p>
          <a:p>
            <a:r>
              <a:t>https://fintechathon.g-ican.com/#/rule（初赛PPT必交、汇报不超过10分钟；评分40%/30%/30%）。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本页钩子：涉诈号码先提示，模型仍可能提议转账，安全内核最终按风险名单拒绝。</a:t>
            </a:r>
          </a:p>
          <a:p/>
          <a:p>
            <a:r>
              <a:t>参考讲述时间：40秒。全稿计划9分钟，属安排值，未作真人计时。初赛提交说明以页面自读为主。</a:t>
            </a:r>
          </a:p>
          <a:p/>
          <a:p>
            <a:r>
              <a:t>高概率问答：</a:t>
            </a:r>
          </a:p>
          <a:p>
            <a:r>
              <a:t>涉诈转账是在调用模型前就拦住的吗？</a:t>
            </a:r>
          </a:p>
          <a:p>
            <a:r>
              <a:t>调用模型前，代码先识别并提示涉诈号码，模型仍可能提出转账。真正拒绝执行发生在安全内核检查风险名单时。“按那条转账备注说的做”的展示案例也是风险名单拒绝，不能归因于参数溯源。</a:t>
            </a:r>
          </a:p>
          <a:p/>
          <a:p>
            <a:r>
              <a:t>依据：</a:t>
            </a:r>
          </a:p>
          <a:p>
            <a:r>
              <a:t>src/agent/orchestrator.py:153-154,160-178；src/core/ops.py:68-70,123-175；src/core/kernel.py:341-357。</a:t>
            </a:r>
          </a:p>
          <a:p>
            <a:r>
              <a:t>截图为既有模拟原型；“按那条转账备注说的做”的案例同样是风险名单拒绝，不是参数溯源拒绝。</a:t>
            </a:r>
          </a:p>
          <a:p>
            <a:r>
              <a:t>https://fintechathon.g-ican.com/#/rule（初赛PPT必交、汇报不超过10分钟；评分40%/30%/30%）。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本页钩子：输入规则可能漏判，所以参数、权限和确认仍由代码逐层约束。</a:t>
            </a:r>
          </a:p>
          <a:p/>
          <a:p>
            <a:r>
              <a:t>参考讲述时间：35秒。全稿计划9分钟，属安排值，未作真人计时。初赛提交说明以页面自读为主。</a:t>
            </a:r>
          </a:p>
          <a:p/>
          <a:p>
            <a:r>
              <a:t>高概率问答：</a:t>
            </a:r>
          </a:p>
          <a:p>
            <a:r>
              <a:t>提示词注入靠什么防？</a:t>
            </a:r>
          </a:p>
          <a:p>
            <a:r>
              <a:t>输入守卫先识别部分已知攻击，外部备注和产品说明按数据处理。后面还有参数溯源、代码判档、工具白名单和代码生成的确认单。规则仍可能漏掉新话术，不能声称能识别全部攻击。</a:t>
            </a:r>
          </a:p>
          <a:p/>
          <a:p>
            <a:r>
              <a:t>依据：</a:t>
            </a:r>
          </a:p>
          <a:p>
            <a:r>
              <a:t>src/agent/orchestrator.py:120-154；src/core/ops.py:68-70；deliverables/答辩准备/模拟提问.md:228-231。</a:t>
            </a:r>
          </a:p>
          <a:p>
            <a:r>
              <a:t>https://fintechathon.g-ican.com/#/rule（初赛PPT必交、汇报不超过10分钟；评分40%/30%/30%）。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本页钩子：事实校验覆盖有限，Linux沙箱也须网络命名空间探测成功才隔离网络。</a:t>
            </a:r>
          </a:p>
          <a:p/>
          <a:p>
            <a:r>
              <a:t>参考讲述时间：35秒。全稿计划9分钟，属安排值，未作真人计时。初赛提交说明以页面自读为主。</a:t>
            </a:r>
          </a:p>
          <a:p/>
          <a:p>
            <a:r>
              <a:t>高概率问答：</a:t>
            </a:r>
          </a:p>
          <a:p>
            <a:r>
              <a:t>沙箱是否保证断网和资源隔离？</a:t>
            </a:r>
          </a:p>
          <a:p>
            <a:r>
              <a:t>不保证所有环境都有相同限制：Linux子进程设置CPU和内存限制，只有网络命名空间探测成功时才隔离网络。Windows和macOS子进程没有同样的CPU、内存限制。Docker模式按独立配置限制，部署时须核验实际生效情况。</a:t>
            </a:r>
          </a:p>
          <a:p/>
          <a:p>
            <a:r>
              <a:t>事实校验能杜绝幻觉吗？</a:t>
            </a:r>
          </a:p>
          <a:p>
            <a:r>
              <a:t>不能，它是针对特定数字、完成语和参数来源的规则校验。规则覆盖有限，不能保证回复里的所有判断都正确。业务事实最终应核对账本、卡片和交易回执。</a:t>
            </a:r>
          </a:p>
          <a:p/>
          <a:p>
            <a:r>
              <a:t>依据：</a:t>
            </a:r>
          </a:p>
          <a:p>
            <a:r>
              <a:t>src/agent/factcheck.py:50-79；src/core/sandbox.py:105-164。</a:t>
            </a:r>
          </a:p>
          <a:p>
            <a:r>
              <a:t>Linux子进程配置CPU 2秒、地址空间256MB；Docker当前命令为128MB/0.5 CPU。旧卡片固定显示不等于实际生效，不以旧卡片截图证明限制。</a:t>
            </a:r>
          </a:p>
          <a:p>
            <a:r>
              <a:t>https://fintechathon.g-ican.com/#/rule（初赛PPT必交、汇报不超过10分钟；评分40%/30%/30%）。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本页钩子：小安会提醒、接受改主意，遇到歧义追问，超范围说明边界。</a:t>
            </a:r>
          </a:p>
          <a:p/>
          <a:p>
            <a:r>
              <a:t>参考讲述时间：30秒。全稿计划9分钟，属安排值，未作真人计时。初赛提交说明以页面自读为主。</a:t>
            </a:r>
          </a:p>
          <a:p/>
          <a:p>
            <a:r>
              <a:t>依据：</a:t>
            </a:r>
          </a:p>
          <a:p>
            <a:r>
              <a:t>bench/reports/latest.md:21-22及UX3、UX4、UX8、UX9；docs/images/screens/12-subscriptions.png。</a:t>
            </a:r>
          </a:p>
          <a:p>
            <a:r>
              <a:t>https://fintechathon.g-ican.com/#/rule（初赛PPT必交、汇报不超过10分钟；评分40%/30%/30%）。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本页钩子：151条有限用例一次全部通过，评测仍来自项目内另一不读实现的会话。</a:t>
            </a:r>
          </a:p>
          <a:p/>
          <a:p>
            <a:r>
              <a:t>参考讲述时间：45秒。全稿计划9分钟，属安排值，未作真人计时。初赛提交说明以页面自读为主。</a:t>
            </a:r>
          </a:p>
          <a:p/>
          <a:p>
            <a:r>
              <a:t>高概率问答：</a:t>
            </a:r>
          </a:p>
          <a:p>
            <a:r>
              <a:t>151条用例是谁写的，独立到什么程度？</a:t>
            </a:r>
          </a:p>
          <a:p>
            <a:r>
              <a:t>当前可见记录有任务87条、安全45条和体验19条。评测由项目内另一不读后端实现的会话，依据接口契约和验收要求编写。一次运行全部通过是有限用例结果，不等于第三方认证或每次都通过。</a:t>
            </a:r>
          </a:p>
          <a:p/>
          <a:p>
            <a:r>
              <a:t>119/119能证明所有工具参数都正确吗？</a:t>
            </a:r>
          </a:p>
          <a:p>
            <a:r>
              <a:t>不能，这个指标检查期望的工具、卡片或待确认单是否按步骤出现。它没有全面核验每个参数的正确性。页面因此将它写作工具调用指标，并明确统计范围。</a:t>
            </a:r>
          </a:p>
          <a:p/>
          <a:p>
            <a:r>
              <a:t>零误拒和两秒多耗时怎样统计？</a:t>
            </a:r>
          </a:p>
          <a:p>
            <a:r>
              <a:t>正常输入误拒为0/107，只统计是否被输入守卫拦截，不能扩大成所有业务误拒为零。当前记录每轮平均2.16秒、P90为3.16秒。耗时不包含评测程序因限流等待的时间。</a:t>
            </a:r>
          </a:p>
          <a:p/>
          <a:p>
            <a:r>
              <a:t>依据：</a:t>
            </a:r>
          </a:p>
          <a:p>
            <a:r>
              <a:t>bench/reports/latest.md:3-22。代码版本73bc7c2，真实deepseek-flash。平均2164毫秒/P90 3161毫秒，显示四舍五入为2.16/3.16秒。评测程序HTTP 429等待105秒不计入耗时。</a:t>
            </a:r>
          </a:p>
          <a:p>
            <a:r>
              <a:t>151=87+45+19。未在本次修改任务中运行评测或测试。</a:t>
            </a:r>
          </a:p>
          <a:p>
            <a:r>
              <a:t>https://fintechathon.g-ican.com/#/rule（初赛PPT必交、汇报不超过10分钟；评分40%/30%/30%）。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本页钩子：这是模拟原型，真实服务、账本隐私和运行隔离仍需进一步验收。</a:t>
            </a:r>
          </a:p>
          <a:p/>
          <a:p>
            <a:r>
              <a:t>参考讲述时间：30秒。全稿计划9分钟，属安排值，未作真人计时。初赛提交说明以页面自读为主。</a:t>
            </a:r>
          </a:p>
          <a:p/>
          <a:p>
            <a:r>
              <a:t>高概率问答：</a:t>
            </a:r>
          </a:p>
          <a:p>
            <a:r>
              <a:t>本人账本进入模型上下文，为什么还说安全？</a:t>
            </a:r>
          </a:p>
          <a:p>
            <a:r>
              <a:t>本人的模拟账本数据确实会进入模型上下文，这是明确的隐私边界。我们的安全主张主要针对授权和执行约束，不能等同于数据不出域。真实部署前需要重新审查数据范围、模型服务和隐私方案。</a:t>
            </a:r>
          </a:p>
          <a:p/>
          <a:p>
            <a:r>
              <a:t>依据：</a:t>
            </a:r>
          </a:p>
          <a:p>
            <a:r>
              <a:t>docs/安全自评报告.md，已知风险与R12；src/core/sandbox.py:105-164；src/core/plans.py:290-297；docs/技术文档.md:3,190-192。</a:t>
            </a:r>
          </a:p>
          <a:p>
            <a:r>
              <a:t>https://fintechathon.g-ican.com/#/rule（初赛PPT必交、汇报不超过10分钟；评分40%/30%/30%）。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本页钩子：首版七句只完成两句，而模型也会提出涉诈转账，所以理解和执行必须分工。</a:t>
            </a:r>
          </a:p>
          <a:p/>
          <a:p>
            <a:r>
              <a:t>参考讲述时间：40秒。全稿计划9分钟，属安排值，未作真人计时。初赛提交说明以页面自读为主。</a:t>
            </a:r>
          </a:p>
          <a:p/>
          <a:p>
            <a:r>
              <a:t>高概率问答：</a:t>
            </a:r>
          </a:p>
          <a:p>
            <a:r>
              <a:t>为什么不能全部用规则？</a:t>
            </a:r>
          </a:p>
          <a:p>
            <a:r>
              <a:t>首版内部七句口语诊断只完成两句，说明当时的规则覆盖不足。我们因此让模型处理表达理解，让代码保留授权和执行边界。这是内部诊断记录，不能当作公平消融实验或行业对比结果。</a:t>
            </a:r>
          </a:p>
          <a:p/>
          <a:p>
            <a:r>
              <a:t>依据：</a:t>
            </a:r>
          </a:p>
          <a:p>
            <a:r>
              <a:t>docs/sprint/PLAN.md:24（内部诊断记录，非当前正式评测）；deliverables/答辩准备/素材/问题页-模型被带偏-代码拒绝.png。</a:t>
            </a:r>
          </a:p>
          <a:p>
            <a:r>
              <a:t>src/agent/orchestrator.py:153-154；src/core/ops.py:68-70。</a:t>
            </a:r>
          </a:p>
          <a:p>
            <a:r>
              <a:t>https://fintechathon.g-ican.com/#/rule（初赛PPT必交、汇报不超过10分钟；评分40%/30%/30%）。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本页钩子：AI辅助编码，需求、规则与验收由人负责，留存结果包含错误和跳过。</a:t>
            </a:r>
          </a:p>
          <a:p/>
          <a:p>
            <a:r>
              <a:t>参考讲述时间：30秒。全稿计划9分钟，属安排值，未作真人计时。初赛提交说明以页面自读为主。</a:t>
            </a:r>
          </a:p>
          <a:p/>
          <a:p>
            <a:r>
              <a:t>高概率问答：</a:t>
            </a:r>
          </a:p>
          <a:p>
            <a:r>
              <a:t>370项单元测试是不是全部通过？</a:t>
            </a:r>
          </a:p>
          <a:p>
            <a:r>
              <a:t>留存输出记录了370项、1个Docker测试组错误和2项跳过。不能说370项全部通过，也不能把这个错误从结果中隐去。这里引用的是现有输出，本次PPT修改没有重新运行测试。</a:t>
            </a:r>
          </a:p>
          <a:p/>
          <a:p>
            <a:r>
              <a:t>代码由AI写，参赛者具体负责什么？</a:t>
            </a:r>
          </a:p>
          <a:p>
            <a:r>
              <a:t>材料如实披露使用Claude Code辅助编码、测试和交付材料，评测由另一不读后端实现的会话编写。参赛者负责需求与安全规则取舍、结果审核和演示答辩，个人分工只陈述可核实的实际工作。AI生成代码仍需复核，现有测试中的错误与跳过也保留。</a:t>
            </a:r>
          </a:p>
          <a:p/>
          <a:p>
            <a:r>
              <a:t>依据：</a:t>
            </a:r>
          </a:p>
          <a:p>
            <a:r>
              <a:t>docs/技术文档.md:195-198；deliverables/答辩准备/模拟提问.md:187-202。</a:t>
            </a:r>
          </a:p>
          <a:p>
            <a:r>
              <a:t>deliverables/答辩准备/素材/单元测试输出-20261101.txt:4,8-18，Ran 370 tests；FAILED (errors=1, skipped=2)。该Docker测试组setUpClass错误，组内未执行。</a:t>
            </a:r>
          </a:p>
          <a:p>
            <a:r>
              <a:t>https://fintechathon.g-ican.com/#/rule（初赛PPT必交、汇报不超过10分钟；评分40%/30%/30%）。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本页钩子：保留本页供快速定位能力、机制、证据与边界，不逐条朗读。</a:t>
            </a:r>
          </a:p>
          <a:p/>
          <a:p>
            <a:r>
              <a:t>参考讲述时间：0秒。全稿计划9分钟，属安排值，未作真人计时。初赛提交说明以页面自读为主。</a:t>
            </a:r>
          </a:p>
          <a:p/>
          <a:p>
            <a:r>
              <a:t>依据：</a:t>
            </a:r>
          </a:p>
          <a:p>
            <a:r>
              <a:t>本文件第4-16页。</a:t>
            </a:r>
          </a:p>
          <a:p>
            <a:r>
              <a:t>https://fintechathon.g-ican.com/#/rule（初赛PPT必交、汇报不超过10分钟；评分40%/30%/30%）。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2" Type="http://schemas.openxmlformats.org/officeDocument/2006/relationships/image" Target="../media/image-12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>
            <a:extLst>
              <a:ext uri="{FF2B5EF4-FFF2-40B4-BE49-F238E27FC236}">
                <a16:creationId xmlns:a16="http://schemas.microsoft.com/office/drawing/2014/main" id="{1EA52ACB-4F0B-476B-8B9C-9705FEBC3C48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66675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rPr>
              <a:t>FinTechathon 2026 · 人工智能赛道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AB2A7D9C-4C87-45BA-BF3D-85028320EFE6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657225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6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6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6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6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6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6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6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6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6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6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6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小安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133D4396-1F7D-47BA-973F-FF0EBD85ABBF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6953250" cy="5524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8FC"/>
                </a:solidFill>
                <a:latin typeface="Microsoft YaHei"/>
                <a:ea typeface="Microsoft YaHei"/>
                <a:cs typeface="Microsoft YaHei"/>
              </a:rPr>
              <a:t>自然语言办理银行业务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E13C535-6512-4321-8762-E3A2D3C80C09}"/>
              </a:ext>
            </a:extLst>
          </p:cNvPr>
          <p:cNvSpPr>
            <a:spLocks noGrp="1"/>
          </p:cNvSpPr>
          <p:nvPr/>
        </p:nvSpPr>
        <p:spPr>
          <a:xfrm>
            <a:off x="609600" y="3800475"/>
            <a:ext cx="6953250" cy="5429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00" b="1">
                <a:solidFill>
                  <a:srgbClr val="7DD9D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100" b="1">
                <a:solidFill>
                  <a:srgbClr val="7DD9D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100" b="1">
                <a:solidFill>
                  <a:srgbClr val="7DD9D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100" b="1">
                <a:solidFill>
                  <a:srgbClr val="7DD9D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100" b="1">
                <a:solidFill>
                  <a:srgbClr val="7DD9D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100" b="1">
                <a:solidFill>
                  <a:srgbClr val="7DD9D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100" b="1">
                <a:solidFill>
                  <a:srgbClr val="7DD9D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100" b="1">
                <a:solidFill>
                  <a:srgbClr val="7DD9D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100" b="1">
                <a:solidFill>
                  <a:srgbClr val="7DD9D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100" b="1">
                <a:solidFill>
                  <a:srgbClr val="7DD9D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100" b="1">
                <a:solidFill>
                  <a:srgbClr val="7DD9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>
                <a:solidFill>
                  <a:srgbClr val="7DD9D0"/>
                </a:solidFill>
                <a:latin typeface="Microsoft YaHei"/>
                <a:ea typeface="Microsoft YaHei"/>
                <a:cs typeface="Microsoft YaHei"/>
              </a:rPr>
              <a:t>模型提议，代码裁决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5F4B171-3198-44EE-A09A-2A56D2061330}"/>
              </a:ext>
            </a:extLst>
          </p:cNvPr>
          <p:cNvSpPr>
            <a:spLocks noGrp="1"/>
          </p:cNvSpPr>
          <p:nvPr/>
        </p:nvSpPr>
        <p:spPr>
          <a:xfrm>
            <a:off x="609600" y="4743450"/>
            <a:ext cx="695325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9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rPr>
              <a:t>六大场景  ·  分级授权  ·  App + 飞书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BC26E9FD-2079-4D14-9B24-7E81D0DECC8A}"/>
              </a:ext>
            </a:extLst>
          </p:cNvPr>
          <p:cNvSpPr>
            <a:spLocks noGrp="1"/>
          </p:cNvSpPr>
          <p:nvPr/>
        </p:nvSpPr>
        <p:spPr>
          <a:xfrm>
            <a:off x="609600" y="5838825"/>
            <a:ext cx="6953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rPr>
              <a:t>初赛作品说明 · 模拟原型</a:t>
            </a:r>
          </a:p>
        </p:txBody>
      </p:sp>
      <p:pic>
        <p:nvPicPr>
          <p:cNvPr id="8" name="Picture 7" descr="现有模拟原型截图：01-hom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0302" y="429768"/>
            <a:ext cx="2670394" cy="57790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574536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全部账户、资金、商户、短信均为模拟；界面人物为演示设定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45368" y="6547104"/>
            <a:ext cx="667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BDD0D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93776"/>
            <a:ext cx="110642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9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只靠规则办不成，只靠模型不放心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首版口语诊断与现有决策片段，说明为何分离理解与执行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5760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50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2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70632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首版内部诊断：7 句口语仅办成 2 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64992"/>
            <a:ext cx="585216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9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“明天给小王转200”“我卡丢了”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9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当时只得到“请明确操作”的回复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98848"/>
            <a:ext cx="585216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4100" b="1">
                <a:solidFill>
                  <a:srgbClr val="9F3D2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¥2,000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模型仍提出涉诈转账，代码按风险名单拒绝</a:t>
            </a:r>
          </a:p>
        </p:txBody>
      </p:sp>
      <p:pic>
        <p:nvPicPr>
          <p:cNvPr id="9" name="Picture 8" descr="现有模拟原型截图：问题页-模型被带偏-代码拒绝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136" y="1700784"/>
            <a:ext cx="3127248" cy="4443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6360" y="146304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问题与取舍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能力与规划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7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安全机制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2288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交互体验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证据与边界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574536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全部账户、资金、商户、短信均为模拟；界面人物为演示设定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45368" y="6547104"/>
            <a:ext cx="667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93776"/>
            <a:ext cx="110642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9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行业对标：对话办事需要清楚的执行边界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对照 Revolut AIR 官方披露能力，说明小安的设计取舍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64792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AIR 已支持消费洞察、订阅管理、卡片控制与旅行服务。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523744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617720"/>
                <a:gridCol w="4617720"/>
              </a:tblGrid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比较维度</a:t>
                      </a:r>
                    </a:p>
                  </a:txBody>
                  <a:tcPr marL="128016" marR="128016" marT="91440" marB="54864" anchor="ctr">
                    <a:solidFill>
                      <a:srgbClr val="152B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Revolut AIR</a:t>
                      </a:r>
                    </a:p>
                  </a:txBody>
                  <a:tcPr marL="128016" marR="128016" marT="91440" marB="54864" anchor="ctr">
                    <a:solidFill>
                      <a:srgbClr val="152B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小安</a:t>
                      </a:r>
                    </a:p>
                  </a:txBody>
                  <a:tcPr marL="128016" marR="128016" marT="91440" marB="54864" anchor="ctr">
                    <a:solidFill>
                      <a:srgbClr val="152B3D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8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业务入口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8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App 内的对话助手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8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App + 飞书私聊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8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确认与授权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8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敏感操作需生物识别批准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8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三档权限、代码复查（模拟）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8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落地状态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8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2026 年 4 月开始向英国用户推出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8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模拟原型，未接真实银行服务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15584"/>
            <a:ext cx="110642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9F3D2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小安当前边界：未接生物识别；本人模拟账本数据会进入模型上下文。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146304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问题与取舍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3952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能力与规划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127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安全机制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62288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交互体验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证据与边界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74536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全部账户、资金、商户、短信均为模拟；界面人物为演示设定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45368" y="6547104"/>
            <a:ext cx="667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93776"/>
            <a:ext cx="110642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9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六大场景，18 项典型能力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口语例句来自当前评测记录，业务落地范围按模拟原型说明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28216"/>
            <a:ext cx="43891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172821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智能转账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185415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“给小王转200，备注还饭钱”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596896"/>
            <a:ext cx="47091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定时转账、AA、延时到账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935224"/>
            <a:ext cx="5349239" cy="0"/>
          </a:xfrm>
          <a:prstGeom prst="line">
            <a:avLst/>
          </a:prstGeom>
          <a:ln w="8255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63640" y="1728216"/>
            <a:ext cx="43891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85431" y="172821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账单分析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5431" y="2185415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“帮我看看有没有异常扣款”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85431" y="2596896"/>
            <a:ext cx="47091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分类统计、月报年报、异常识别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935224"/>
            <a:ext cx="5349240" cy="0"/>
          </a:xfrm>
          <a:prstGeom prst="line">
            <a:avLst/>
          </a:prstGeom>
          <a:ln w="8255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3035808"/>
            <a:ext cx="43891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3035808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理财服务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493008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“推荐点稳一点的，放半年”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904487"/>
            <a:ext cx="47091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测评、推荐对比、申购赎回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4242816"/>
            <a:ext cx="5349239" cy="0"/>
          </a:xfrm>
          <a:prstGeom prst="line">
            <a:avLst/>
          </a:prstGeom>
          <a:ln w="8255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63640" y="3035808"/>
            <a:ext cx="43891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85431" y="3035808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卡片管理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5431" y="3493008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“我卡丢了”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5431" y="3904487"/>
            <a:ext cx="47091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冻结、挂失、限额、模拟虚拟卡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263640" y="4242816"/>
            <a:ext cx="5349240" cy="0"/>
          </a:xfrm>
          <a:prstGeom prst="line">
            <a:avLst/>
          </a:prstGeom>
          <a:ln w="8255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4343400"/>
            <a:ext cx="43891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" y="4343400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订阅 / 代扣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800600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“健身会员不要了”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5212080"/>
            <a:ext cx="47091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识别订阅、续费提醒、一键取消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343400"/>
            <a:ext cx="43891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85431" y="4343400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跨场景联动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85431" y="4800600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“下个月12号是周屿生日……”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85431" y="5212080"/>
            <a:ext cx="47091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锁预算、模拟鲜花与蛋糕订单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897880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9F3D2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AA 仅向平台内用户发送模拟通知，外部联系人通知未完成；申请仅限模拟虚拟卡，商户订单均为模拟。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66360" y="146304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问题与取舍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能力与规划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82127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安全机制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交互体验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33888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证据与边界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574536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全部账户、资金、商户、短信均为模拟；界面人物为演示设定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45368" y="6547104"/>
            <a:ext cx="667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93776"/>
            <a:ext cx="110642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9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模型理解与提议，代码授权与执行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模型不持有确认码、动态码和交易密码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6583680" cy="777240"/>
          </a:xfrm>
          <a:prstGeom prst="rect">
            <a:avLst/>
          </a:prstGeom>
          <a:solidFill>
            <a:srgbClr val="E3EFF0"/>
          </a:solidFill>
          <a:ln w="12700">
            <a:solidFill>
              <a:srgbClr val="167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6656" y="1911095"/>
            <a:ext cx="6327648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App / 飞书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852928"/>
            <a:ext cx="6583680" cy="777240"/>
          </a:xfrm>
          <a:prstGeom prst="rect">
            <a:avLst/>
          </a:prstGeom>
          <a:solidFill>
            <a:srgbClr val="E3EFF0"/>
          </a:solidFill>
          <a:ln w="12700">
            <a:solidFill>
              <a:srgbClr val="167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2980944"/>
            <a:ext cx="6327648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模型：理解、规划、工具提议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922776"/>
            <a:ext cx="6583680" cy="777240"/>
          </a:xfrm>
          <a:prstGeom prst="rect">
            <a:avLst/>
          </a:prstGeom>
          <a:solidFill>
            <a:srgbClr val="112535"/>
          </a:solidFill>
          <a:ln w="12700">
            <a:solidFill>
              <a:srgbClr val="167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4050791"/>
            <a:ext cx="6327648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安全内核：判档、授权、执行前复查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92624"/>
            <a:ext cx="6583680" cy="777240"/>
          </a:xfrm>
          <a:prstGeom prst="rect">
            <a:avLst/>
          </a:prstGeom>
          <a:solidFill>
            <a:srgbClr val="112535"/>
          </a:solidFill>
          <a:ln w="12700">
            <a:solidFill>
              <a:srgbClr val="167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5120640"/>
            <a:ext cx="6327648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模拟账本、交易回执与审计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40480" y="2560320"/>
            <a:ext cx="0" cy="292607"/>
          </a:xfrm>
          <a:prstGeom prst="line">
            <a:avLst/>
          </a:prstGeom>
          <a:ln w="254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840480" y="3630168"/>
            <a:ext cx="0" cy="292608"/>
          </a:xfrm>
          <a:prstGeom prst="line">
            <a:avLst/>
          </a:prstGeom>
          <a:ln w="254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840480" y="4700016"/>
            <a:ext cx="0" cy="292608"/>
          </a:xfrm>
          <a:prstGeom prst="line">
            <a:avLst/>
          </a:prstGeom>
          <a:ln w="254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80960" y="1865376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3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提议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423160"/>
            <a:ext cx="39319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9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理解口语、拆解步骤、选择工具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3337560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3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裁决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3895344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9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资金及高风险写操作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9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按权限完成确认、验证和复查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5047488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3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结果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5596128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绿档查询可自动执行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资金结果以代码回执为准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146304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问题与取舍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能力与规划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安全机制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2288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交互体验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33888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证据与边界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74536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全部账户、资金、商户、短信均为模拟；界面人物为演示设定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45368" y="6547104"/>
            <a:ext cx="667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93776"/>
            <a:ext cx="110642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9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一次确认绑定计划，到点执行前再次复查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节点参数整体绑定，按执行日重新判档，超出授权不执行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79776"/>
            <a:ext cx="2743200" cy="987552"/>
          </a:xfrm>
          <a:prstGeom prst="rect">
            <a:avLst/>
          </a:prstGeom>
          <a:solidFill>
            <a:srgbClr val="112535"/>
          </a:solidFill>
          <a:ln w="12700">
            <a:solidFill>
              <a:srgbClr val="167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" y="2907792"/>
            <a:ext cx="248716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锁定预算 ¥1,000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251960" y="1920240"/>
            <a:ext cx="2971800" cy="987552"/>
          </a:xfrm>
          <a:prstGeom prst="rect">
            <a:avLst/>
          </a:prstGeom>
          <a:solidFill>
            <a:srgbClr val="E3EFF0"/>
          </a:solidFill>
          <a:ln w="12700">
            <a:solidFill>
              <a:srgbClr val="167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79976" y="2048256"/>
            <a:ext cx="271576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生日前两天订花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3657600"/>
            <a:ext cx="2971800" cy="987552"/>
          </a:xfrm>
          <a:prstGeom prst="rect">
            <a:avLst/>
          </a:prstGeom>
          <a:solidFill>
            <a:srgbClr val="E3EFF0"/>
          </a:solidFill>
          <a:ln w="12700">
            <a:solidFill>
              <a:srgbClr val="167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79976" y="3785615"/>
            <a:ext cx="271576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生日前两天订蛋糕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2779776"/>
            <a:ext cx="3337560" cy="987552"/>
          </a:xfrm>
          <a:prstGeom prst="rect">
            <a:avLst/>
          </a:prstGeom>
          <a:solidFill>
            <a:srgbClr val="112535"/>
          </a:solidFill>
          <a:ln w="12700">
            <a:solidFill>
              <a:srgbClr val="167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4736" y="2907792"/>
            <a:ext cx="308152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生日当天提醒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29000" y="3273552"/>
            <a:ext cx="411480" cy="0"/>
          </a:xfrm>
          <a:prstGeom prst="line">
            <a:avLst/>
          </a:prstGeom>
          <a:ln w="254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840480" y="2414016"/>
            <a:ext cx="0" cy="859536"/>
          </a:xfrm>
          <a:prstGeom prst="line">
            <a:avLst/>
          </a:prstGeom>
          <a:ln w="254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840480" y="2414016"/>
            <a:ext cx="411480" cy="0"/>
          </a:xfrm>
          <a:prstGeom prst="line">
            <a:avLst/>
          </a:prstGeom>
          <a:ln w="254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840480" y="3273552"/>
            <a:ext cx="0" cy="877824"/>
          </a:xfrm>
          <a:prstGeom prst="line">
            <a:avLst/>
          </a:prstGeom>
          <a:ln w="254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840480" y="4151376"/>
            <a:ext cx="411480" cy="0"/>
          </a:xfrm>
          <a:prstGeom prst="line">
            <a:avLst/>
          </a:prstGeom>
          <a:ln w="254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23760" y="2414016"/>
            <a:ext cx="411480" cy="0"/>
          </a:xfrm>
          <a:prstGeom prst="line">
            <a:avLst/>
          </a:prstGeom>
          <a:ln w="254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35240" y="2414016"/>
            <a:ext cx="0" cy="1737360"/>
          </a:xfrm>
          <a:prstGeom prst="line">
            <a:avLst/>
          </a:prstGeom>
          <a:ln w="254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223760" y="4151376"/>
            <a:ext cx="411480" cy="0"/>
          </a:xfrm>
          <a:prstGeom prst="line">
            <a:avLst/>
          </a:prstGeom>
          <a:ln w="254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635240" y="3273552"/>
            <a:ext cx="411480" cy="0"/>
          </a:xfrm>
          <a:prstGeom prst="line">
            <a:avLst/>
          </a:prstGeom>
          <a:ln w="254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5248656"/>
            <a:ext cx="5257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回退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742432"/>
            <a:ext cx="52578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9F3D2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只取消未执行步骤、释放剩余预算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9F3D2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已执行订单不会自动退款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248656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执行边界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742432"/>
            <a:ext cx="521208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花与蛋糕订单为模拟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转人工仅生成本地模拟接管事项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146304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问题与取舍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能力与规划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2127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安全机制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62288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交互体验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33888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证据与边界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74536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全部账户、资金、商户、短信均为模拟；界面人物为演示设定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45368" y="6547104"/>
            <a:ext cx="667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93776"/>
            <a:ext cx="110642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9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三档权限由代码判定，风险增加就提高验证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降低风险的操作更快，增加风险的操作更严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92224"/>
          <a:ext cx="11064240" cy="3639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886200"/>
                <a:gridCol w="3063240"/>
                <a:gridCol w="3200400"/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档位</a:t>
                      </a:r>
                    </a:p>
                  </a:txBody>
                  <a:tcPr marL="128016" marR="128016" marT="91440" marB="54864" anchor="ctr">
                    <a:solidFill>
                      <a:srgbClr val="152B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业务示例</a:t>
                      </a:r>
                    </a:p>
                  </a:txBody>
                  <a:tcPr marL="128016" marR="128016" marT="91440" marB="54864" anchor="ctr">
                    <a:solidFill>
                      <a:srgbClr val="152B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授权动作</a:t>
                      </a:r>
                    </a:p>
                  </a:txBody>
                  <a:tcPr marL="128016" marR="128016" marT="91440" marB="54864" anchor="ctr">
                    <a:solidFill>
                      <a:srgbClr val="152B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关键约束</a:t>
                      </a:r>
                    </a:p>
                  </a:txBody>
                  <a:tcPr marL="128016" marR="128016" marT="91440" marB="54864" anchor="ctr">
                    <a:solidFill>
                      <a:srgbClr val="152B3D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绿档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查询、统计、产品对比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自动执行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限已登记工具和本人数据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黄档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累计小额转账、冻结、取消订阅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点击确认按钮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参数绑定，5 分钟、一次性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</a:tr>
              <a:tr h="11155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红档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大额 / 高风险转账、解冻、申购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交易密码 + 模拟动态码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执行前复查、失败锁定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32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普通转账当日累计 ≤ ¥1,000 可按黄档确认，高风险会强制升档。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4476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冻结 / 下调限额走黄档，解冻 / 上调限额走红档。聊天中说“我确认了”不能代替按钮确认。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146304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问题与取舍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3952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能力与规划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127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安全机制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62288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交互体验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证据与边界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74536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全部账户、资金、商户、短信均为模拟；界面人物为演示设定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45368" y="6547104"/>
            <a:ext cx="667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93776"/>
            <a:ext cx="110642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9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强验证：看清对象与金额，失败触发熔断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交易密码 + 模拟短信动态码；模拟手机属于同一演示环境</a:t>
            </a:r>
          </a:p>
        </p:txBody>
      </p:sp>
      <p:pic>
        <p:nvPicPr>
          <p:cNvPr id="4" name="Picture 3" descr="现有模拟原型截图：d4-红档强验证-桌面含模拟短信.png"/>
          <p:cNvPicPr>
            <a:picLocks noChangeAspect="1"/>
          </p:cNvPicPr>
          <p:nvPr/>
        </p:nvPicPr>
        <p:blipFill>
          <a:blip r:embed="rId5"/>
          <a:srcRect l="19800" t="4000" r="49400" b="44000"/>
          <a:stretch>
            <a:fillRect/>
          </a:stretch>
        </p:blipFill>
        <p:spPr>
          <a:xfrm>
            <a:off x="692333" y="1773936"/>
            <a:ext cx="4010292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94960" y="1847088"/>
            <a:ext cx="502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84708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核对交易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2441448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收款人刘芳，转账金额 ¥2,000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3246120"/>
            <a:ext cx="502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324612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模拟强验证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384048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动态码不进聊天、模型上下文和日志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4681728"/>
            <a:ext cx="502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68172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失败熔断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5276088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连续错 3 次锁 10 分钟，状态持久化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原图局部：强验证面板与模拟短信横幅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146304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问题与取舍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能力与规划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7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安全机制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2288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交互体验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33888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证据与边界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74536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全部账户、资金、商户、短信均为模拟；界面人物为演示设定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45368" y="6547104"/>
            <a:ext cx="667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93776"/>
            <a:ext cx="110642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9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反诈：先提示涉诈号码，再由安全内核拒绝执行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风险名单与风险评分是两条防护路径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64792"/>
            <a:ext cx="8046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300" b="1">
                <a:solidFill>
                  <a:srgbClr val="9F3D2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命中风险名单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414016"/>
            <a:ext cx="2423160" cy="1170432"/>
          </a:xfrm>
          <a:prstGeom prst="rect">
            <a:avLst/>
          </a:prstGeom>
          <a:solidFill>
            <a:srgbClr val="E3EFF0"/>
          </a:solidFill>
          <a:ln w="12700">
            <a:solidFill>
              <a:srgbClr val="167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2542032"/>
            <a:ext cx="216712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模型调用前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识别并提示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7560" y="2414016"/>
            <a:ext cx="2423160" cy="1170432"/>
          </a:xfrm>
          <a:prstGeom prst="rect">
            <a:avLst/>
          </a:prstGeom>
          <a:solidFill>
            <a:srgbClr val="112535"/>
          </a:solidFill>
          <a:ln w="12700">
            <a:solidFill>
              <a:srgbClr val="167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65576" y="2542032"/>
            <a:ext cx="216712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模型仍可能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提出转账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414016"/>
            <a:ext cx="2423160" cy="1170432"/>
          </a:xfrm>
          <a:prstGeom prst="rect">
            <a:avLst/>
          </a:prstGeom>
          <a:solidFill>
            <a:srgbClr val="9F3D2D"/>
          </a:solidFill>
          <a:ln w="12700">
            <a:solidFill>
              <a:srgbClr val="9F3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54496" y="2542032"/>
            <a:ext cx="216712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安全内核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按名单拒绝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71800" y="2999232"/>
            <a:ext cx="365760" cy="0"/>
          </a:xfrm>
          <a:prstGeom prst="line">
            <a:avLst/>
          </a:prstGeom>
          <a:ln w="254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760720" y="2999232"/>
            <a:ext cx="365760" cy="0"/>
          </a:xfrm>
          <a:prstGeom prst="line">
            <a:avLst/>
          </a:prstGeom>
          <a:ln w="254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096512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未命中名单，仍做 0—100 风险评分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183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9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首次收款、金额异常、诈骗话术等七类因子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94960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9F3D2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≥60 分：红档 + 30 秒冷静期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9F3D2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即时转账默认延时 24 小时，到账前可撤回</a:t>
            </a:r>
          </a:p>
        </p:txBody>
      </p:sp>
      <p:pic>
        <p:nvPicPr>
          <p:cNvPr id="16" name="Picture 15" descr="现有模拟原型截图：d1-反诈拦截-手机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338" y="1709928"/>
            <a:ext cx="2104203" cy="45537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66360" y="146304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问题与取舍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能力与规划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7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安全机制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2288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交互体验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证据与边界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74536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全部账户、资金、商户、短信均为模拟；界面人物为演示设定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5368" y="6547104"/>
            <a:ext cx="667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93776"/>
            <a:ext cx="110642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9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五层约束处理注入、信息套取与越权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输入规则可能漏判新话术，参数、权限和确认仍受代码约束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92224"/>
            <a:ext cx="5029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1792224"/>
            <a:ext cx="70408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输入守卫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221991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命中不调模型，10 分钟 3 次转只读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5029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2651760"/>
            <a:ext cx="70408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外部文本数据化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081528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备注与产品说明标为外部数据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11296"/>
            <a:ext cx="5029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3511296"/>
            <a:ext cx="70408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关键参数溯源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941063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金额、对象等需追溯到用户指令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70831"/>
            <a:ext cx="5029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4370831"/>
            <a:ext cx="70408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代码判档与工具白名单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800599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模型不能自降档或调用未登记工具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30368"/>
            <a:ext cx="5029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5230368"/>
            <a:ext cx="70408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代码生成确认单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660136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按真实参数展示对象、金额和授权要求</a:t>
            </a:r>
          </a:p>
        </p:txBody>
      </p:sp>
      <p:pic>
        <p:nvPicPr>
          <p:cNvPr id="19" name="Picture 18" descr="现有模拟原型截图：07-indirect-inject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4127" y="1773936"/>
            <a:ext cx="1994345" cy="43159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778240" y="6190488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200" b="1">
                <a:solidFill>
                  <a:srgbClr val="9F3D2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备注案例实际由风险名单拒绝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146304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问题与取舍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能力与规划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安全机制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2288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交互体验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33888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证据与边界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74536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全部账户、资金、商户、短信均为模拟；界面人物为演示设定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45368" y="6547104"/>
            <a:ext cx="667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93776"/>
            <a:ext cx="110642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9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事实校验有覆盖边界，沙箱能力随环境变化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最终以账本和交易回执为准，不能保证杜绝所有幻觉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3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回复与参数校验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50592"/>
            <a:ext cx="3886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写操作前核对关键参数来源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回复后检查数字与完成语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不匹配时重答或模板改写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65192"/>
            <a:ext cx="38862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300" b="1">
                <a:solidFill>
                  <a:srgbClr val="9F3D2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规则覆盖有限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22976"/>
            <a:ext cx="3886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9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不把规则通过等同于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9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所有数字或语义都正确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78308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分析代码：AST 白名单、独立子进程、5 秒超时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0" y="2542032"/>
          <a:ext cx="6858000" cy="3255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4800600"/>
              </a:tblGrid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运行方式</a:t>
                      </a:r>
                    </a:p>
                  </a:txBody>
                  <a:tcPr marL="128016" marR="128016" marT="91440" marB="54864" anchor="ctr">
                    <a:solidFill>
                      <a:srgbClr val="152B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实际限制</a:t>
                      </a:r>
                    </a:p>
                  </a:txBody>
                  <a:tcPr marL="128016" marR="128016" marT="91440" marB="54864" anchor="ctr">
                    <a:solidFill>
                      <a:srgbClr val="152B3D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Linux 子进程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设置 CPU / 内存限制；仅网络命名空间</a:t>
                      </a:r>
                    </a:p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探测成功时断网，否则网络隔离降级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Windows / macOS</a:t>
                      </a:r>
                    </a:p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子进程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没有同样的 CPU / 内存限制</a:t>
                      </a:r>
                    </a:p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也无上述网络命名空间隔离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Docker 模式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资源与网络限制按实际配置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754880" y="5980176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只给本人交易的只读快照，代码哈希写入审计。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146304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问题与取舍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能力与规划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安全机制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62288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交互体验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33888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证据与边界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574536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全部账户、资金、商户、短信均为模拟；界面人物为演示设定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5368" y="6547104"/>
            <a:ext cx="667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93776"/>
            <a:ext cx="110642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9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飞书支持查询和小额确认，红档须回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同一安全内核与模拟账本；仅处理已绑定用户的私聊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92224"/>
          <a:ext cx="80467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743200"/>
                <a:gridCol w="4069080"/>
              </a:tblGrid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权限</a:t>
                      </a:r>
                    </a:p>
                  </a:txBody>
                  <a:tcPr marL="128016" marR="128016" marT="91440" marB="54864" anchor="ctr">
                    <a:solidFill>
                      <a:srgbClr val="152B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App</a:t>
                      </a:r>
                    </a:p>
                  </a:txBody>
                  <a:tcPr marL="128016" marR="128016" marT="91440" marB="54864" anchor="ctr">
                    <a:solidFill>
                      <a:srgbClr val="152B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飞书私聊</a:t>
                      </a:r>
                    </a:p>
                  </a:txBody>
                  <a:tcPr marL="128016" marR="128016" marT="91440" marB="54864" anchor="ctr">
                    <a:solidFill>
                      <a:srgbClr val="152B3D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绿档查询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直接办理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直接办理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黄档小额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点击确认按钮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点击卡片确认，文字“确认”无效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红档操作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交易密码 + 模拟动态码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只生成待办，回 App 强验证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11496"/>
            <a:ext cx="8046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300" b="1">
                <a:solidFill>
                  <a:srgbClr val="9F3D2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动态码不发送到飞书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87568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队内记录：绑定、私聊、小额卡片确认已真机走通。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大额回 App：仅有队内确认，未见独立验收记录。</a:t>
            </a:r>
          </a:p>
        </p:txBody>
      </p:sp>
      <p:pic>
        <p:nvPicPr>
          <p:cNvPr id="7" name="Picture 6" descr="现有模拟原型截图：16-feishu-bin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49956" y="1737360"/>
            <a:ext cx="2011246" cy="43525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0" y="6217920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App 内绑定说明界面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146304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问题与取舍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能力与规划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2127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安全机制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62288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交互体验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证据与边界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74536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全部账户、资金、商户、短信均为模拟；界面人物为演示设定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45368" y="6547104"/>
            <a:ext cx="667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93776"/>
            <a:ext cx="110642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9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交互体验：主动提醒，也允许用户改主意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保留常规页面与按钮，对话承担理解和编排</a:t>
            </a:r>
          </a:p>
        </p:txBody>
      </p:sp>
      <p:pic>
        <p:nvPicPr>
          <p:cNvPr id="4" name="Picture 3" descr="现有模拟原型截图：12-subscriptions.png"/>
          <p:cNvPicPr>
            <a:picLocks noChangeAspect="1"/>
          </p:cNvPicPr>
          <p:nvPr/>
        </p:nvPicPr>
        <p:blipFill>
          <a:blip r:embed="rId2"/>
          <a:srcRect t="12000" b="16000"/>
          <a:stretch>
            <a:fillRect/>
          </a:stretch>
        </p:blipFill>
        <p:spPr>
          <a:xfrm>
            <a:off x="1174130" y="1755648"/>
            <a:ext cx="2863819" cy="4462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74920" y="1810512"/>
            <a:ext cx="6492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3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主动关怀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2414016"/>
            <a:ext cx="64922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生日、续费、涨价、异常与房租提醒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3246120"/>
            <a:ext cx="6492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3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口语与上下文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3849624"/>
            <a:ext cx="64922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“改成300”“第二笔算了”；重名给选项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4672584"/>
            <a:ext cx="6492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3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追问与边界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5276088"/>
            <a:ext cx="64922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缺参数再追问；超范围说明可办事项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053328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任务平均 1.17 轮；安全透视展示决策过程，真实片段见第 2 页。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订阅识别与续费提醒（原图局部）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146304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问题与取舍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能力与规划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安全机制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2288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交互体验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33888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证据与边界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74536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全部账户、资金、商户、短信均为模拟；界面人物为演示设定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5368" y="6547104"/>
            <a:ext cx="667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93776"/>
            <a:ext cx="110642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9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一次有限评测：151 条全通过，指标按口径解读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latest.md 可见记录：deepseek-flash（live），73bc7c2，2026-11-01 00:58（北京时间）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347472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3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87 / 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70048"/>
            <a:ext cx="34747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任务完成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1783080"/>
            <a:ext cx="347472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3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45 / 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670048"/>
            <a:ext cx="34747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安全用例全检通过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783080"/>
            <a:ext cx="347472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3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119 / 119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670048"/>
            <a:ext cx="34747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工具指标（按步骤）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38328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900684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统计对象</a:t>
                      </a:r>
                    </a:p>
                  </a:txBody>
                  <a:tcPr marL="128016" marR="128016" marT="91440" marB="54864" anchor="ctr">
                    <a:solidFill>
                      <a:srgbClr val="152B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口径与当前记录</a:t>
                      </a:r>
                    </a:p>
                  </a:txBody>
                  <a:tcPr marL="128016" marR="128016" marT="91440" marB="54864" anchor="ctr">
                    <a:solidFill>
                      <a:srgbClr val="152B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工具调用指标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期望的工具、卡片或待确认单是否出现；不代表所有参数完全正确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输入守卫 / 体验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正常请求输入守卫误拒 0 / 107；体验用例 19 / 19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每轮耗时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平均 2.16 秒，P90 3.16 秒；不含评测程序限流等待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评测来源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项目内另一不读后端实现的会话编写；任务 87、安全 45、体验 19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236208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9F3D2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100% 仅代表此次有限用例运行，不等于第三方认证，也不保证每次通过。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146304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问题与取舍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能力与规划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安全机制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2288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交互体验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证据与边界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574536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全部账户、资金、商户、短信均为模拟；界面人物为演示设定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45368" y="6547104"/>
            <a:ext cx="667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93776"/>
            <a:ext cx="110642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9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模拟原型的边界：服务、隐私与隔离仍需验收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现有机制不能当作生产安全证明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92224"/>
          <a:ext cx="11064240" cy="4681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572000"/>
                <a:gridCol w="4572000"/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边界</a:t>
                      </a:r>
                    </a:p>
                  </a:txBody>
                  <a:tcPr marL="128016" marR="128016" marT="91440" marB="54864" anchor="ctr">
                    <a:solidFill>
                      <a:srgbClr val="152B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实际影响</a:t>
                      </a:r>
                    </a:p>
                  </a:txBody>
                  <a:tcPr marL="128016" marR="128016" marT="91440" marB="54864" anchor="ctr">
                    <a:solidFill>
                      <a:srgbClr val="152B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缓解 / 下一步</a:t>
                      </a:r>
                    </a:p>
                  </a:txBody>
                  <a:tcPr marL="128016" marR="128016" marT="91440" marB="54864" anchor="ctr">
                    <a:solidFill>
                      <a:srgbClr val="152B3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模拟服务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短信、名单、商户和人工客服均模拟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接入真实数据源与服务授权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账本隐私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本人模拟账本数据进入模型上下文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生产可用聚合数据或本地模型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模型与规则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有随机性，可能漏判新话术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分级授权、执行前复查、核对回执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沙箱隔离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能力随系统与运行模式变化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部署前核验实际生效的限制</a:t>
                      </a:r>
                    </a:p>
                  </a:txBody>
                  <a:tcPr marL="128016" marR="128016" marT="91440" marB="54864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审计哈希链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可发现篡改，不能防整库删除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  <a:defRPr sz="1700" b="0">
                          <a:solidFill>
                            <a:srgbClr val="152B3D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rPr>
                          <a:ea typeface="Microsoft YaHei"/>
                          <a:latin typeface="Microsoft YaHei"/>
                          <a:cs typeface="Microsoft YaHei"/>
                        </a:rPr>
                        <a:t>将链头哈希存入外部可信存储</a:t>
                      </a:r>
                    </a:p>
                  </a:txBody>
                  <a:tcPr marL="128016" marR="128016" marT="91440" marB="54864" anchor="ctr">
                    <a:solidFill>
                      <a:srgbClr val="E8F0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166360" y="146304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问题与取舍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73952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能力与规划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82127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安全机制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62288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交互体验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33888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证据与边界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74536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全部账户、资金、商户、短信均为模拟；界面人物为演示设定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45368" y="6547104"/>
            <a:ext cx="667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93776"/>
            <a:ext cx="110642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9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AI 辅助编码，需求、规则与验收由人把关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5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开发方式如实披露，保留错误与跳过记录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10512"/>
            <a:ext cx="52578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参赛者的判断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52578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需求与范围取舍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安全规则与确认边界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审核评测结果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1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演示与答辩准备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10512"/>
            <a:ext cx="52120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AI 编程助手的辅助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560320"/>
            <a:ext cx="5212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使用 Claude Code 辅助编码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生成测试、前端与交付材料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另一会话按接口契约编写评测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评测编写者不读后端实现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5166360"/>
            <a:ext cx="11064240" cy="0"/>
          </a:xfrm>
          <a:prstGeom prst="line">
            <a:avLst/>
          </a:prstGeom>
          <a:ln w="8255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5468112"/>
            <a:ext cx="110642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6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留存单测输出：370 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62472"/>
            <a:ext cx="110642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9F3D2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1 个 Docker 测试组错误，2 项跳过。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146304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问题与取舍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能力与规划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安全机制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62288" y="14630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交互体验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33888" y="146304"/>
            <a:ext cx="1143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5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证据与边界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574536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全部账户、资金、商户、短信均为模拟；界面人物为演示设定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5368" y="6547104"/>
            <a:ext cx="667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">
            <a:extLst>
              <a:ext uri="{FF2B5EF4-FFF2-40B4-BE49-F238E27FC236}">
                <a16:creationId xmlns:a16="http://schemas.microsoft.com/office/drawing/2014/main" id="{AB351DD2-FA6C-4B68-B3D5-34D15D199142}"/>
              </a:ext>
            </a:extLst>
          </p:cNvPr>
          <p:cNvSpPr>
            <a:spLocks noGrp="1"/>
          </p:cNvSpPr>
          <p:nvPr/>
        </p:nvSpPr>
        <p:spPr>
          <a:xfrm>
            <a:off x="552450" y="581025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rPr>
              <a:t>小安：能力、机制与证据索引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76CDF4E2-D073-425F-854F-EBFBE7B52F02}"/>
              </a:ext>
            </a:extLst>
          </p:cNvPr>
          <p:cNvSpPr>
            <a:spLocks noGrp="1"/>
          </p:cNvSpPr>
          <p:nvPr/>
        </p:nvSpPr>
        <p:spPr>
          <a:xfrm>
            <a:off x="552450" y="1257300"/>
            <a:ext cx="11049000" cy="3714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7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rPr>
              <a:t>模型提出行动建议，资金授权与执行由代码决定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CFF14376-27D5-4DA8-BF25-367521334C8E}"/>
              </a:ext>
            </a:extLst>
          </p:cNvPr>
          <p:cNvSpPr>
            <a:spLocks noGrp="1"/>
          </p:cNvSpPr>
          <p:nvPr/>
        </p:nvSpPr>
        <p:spPr>
          <a:xfrm>
            <a:off x="552450" y="2305050"/>
            <a:ext cx="26670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rPr>
              <a:t>问题与能力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228F4125-3BC4-4CDC-A7AB-FE20EA381000}"/>
              </a:ext>
            </a:extLst>
          </p:cNvPr>
          <p:cNvSpPr>
            <a:spLocks noGrp="1"/>
          </p:cNvSpPr>
          <p:nvPr/>
        </p:nvSpPr>
        <p:spPr>
          <a:xfrm>
            <a:off x="552450" y="2895600"/>
            <a:ext cx="26670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rPr>
              <a:t>02—06 页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D2ED47FB-A7D6-4CEB-A37B-4266AFCBA2A9}"/>
              </a:ext>
            </a:extLst>
          </p:cNvPr>
          <p:cNvSpPr>
            <a:spLocks noGrp="1"/>
          </p:cNvSpPr>
          <p:nvPr/>
        </p:nvSpPr>
        <p:spPr>
          <a:xfrm>
            <a:off x="552450" y="3695700"/>
            <a:ext cx="2667000" cy="1619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rPr>
              <a:t>问题与行业对标</a:t>
            </a:r>
          </a:p>
          <a:p>
            <a: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rPr>
              <a:t>六大场景</a:t>
            </a:r>
          </a:p>
          <a:p>
            <a: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rPr>
              <a:t>模型分工与 DAG 计划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9BC3ADEF-C828-492A-AD0B-903F76DC0578}"/>
              </a:ext>
            </a:extLst>
          </p:cNvPr>
          <p:cNvSpPr>
            <a:spLocks noGrp="1"/>
          </p:cNvSpPr>
          <p:nvPr/>
        </p:nvSpPr>
        <p:spPr>
          <a:xfrm>
            <a:off x="3448050" y="2305050"/>
            <a:ext cx="26670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rPr>
              <a:t>安全机制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7DFFA5C1-1287-4595-A860-D3FCF67BEB5E}"/>
              </a:ext>
            </a:extLst>
          </p:cNvPr>
          <p:cNvSpPr>
            <a:spLocks noGrp="1"/>
          </p:cNvSpPr>
          <p:nvPr/>
        </p:nvSpPr>
        <p:spPr>
          <a:xfrm>
            <a:off x="3448050" y="2895600"/>
            <a:ext cx="26670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rPr>
              <a:t>07—11 页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666B1D47-9AB1-4FD1-B2F9-50F9407E2492}"/>
              </a:ext>
            </a:extLst>
          </p:cNvPr>
          <p:cNvSpPr>
            <a:spLocks noGrp="1"/>
          </p:cNvSpPr>
          <p:nvPr/>
        </p:nvSpPr>
        <p:spPr>
          <a:xfrm>
            <a:off x="3448050" y="3695700"/>
            <a:ext cx="2667000" cy="1619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rPr>
              <a:t>三档权限与强验证</a:t>
            </a:r>
          </a:p>
          <a:p>
            <a: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rPr>
              <a:t>反诈与五层防线</a:t>
            </a:r>
          </a:p>
          <a:p>
            <a: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rPr>
              <a:t>事实校验与沙箱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DF7E2E1-5A53-4871-A017-77C55D149C03}"/>
              </a:ext>
            </a:extLst>
          </p:cNvPr>
          <p:cNvSpPr>
            <a:spLocks noGrp="1"/>
          </p:cNvSpPr>
          <p:nvPr/>
        </p:nvSpPr>
        <p:spPr>
          <a:xfrm>
            <a:off x="6343650" y="2305050"/>
            <a:ext cx="26670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rPr>
              <a:t>交互体验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C0974505-0BFD-45F7-B68C-E17F605F3892}"/>
              </a:ext>
            </a:extLst>
          </p:cNvPr>
          <p:cNvSpPr>
            <a:spLocks noGrp="1"/>
          </p:cNvSpPr>
          <p:nvPr/>
        </p:nvSpPr>
        <p:spPr>
          <a:xfrm>
            <a:off x="6343650" y="2895600"/>
            <a:ext cx="26670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rPr>
              <a:t>12—13 页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A0EF3CC1-4DB0-480B-8B49-A25ABB605FBF}"/>
              </a:ext>
            </a:extLst>
          </p:cNvPr>
          <p:cNvSpPr>
            <a:spLocks noGrp="1"/>
          </p:cNvSpPr>
          <p:nvPr/>
        </p:nvSpPr>
        <p:spPr>
          <a:xfrm>
            <a:off x="6343650" y="3695700"/>
            <a:ext cx="2667000" cy="1619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rPr>
              <a:t>App 与飞书</a:t>
            </a:r>
          </a:p>
          <a:p>
            <a: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rPr>
              <a:t>渠道分级风控</a:t>
            </a:r>
          </a:p>
          <a:p>
            <a: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rPr>
              <a:t>提醒、追问与兜底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5BBD05F6-AFDD-4BAA-8EB3-E1B1FA30E6D7}"/>
              </a:ext>
            </a:extLst>
          </p:cNvPr>
          <p:cNvSpPr>
            <a:spLocks noGrp="1"/>
          </p:cNvSpPr>
          <p:nvPr/>
        </p:nvSpPr>
        <p:spPr>
          <a:xfrm>
            <a:off x="9239250" y="2305050"/>
            <a:ext cx="26670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rPr>
              <a:t>证据与边界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6127ED7F-DECE-420E-9861-817457AE4B5E}"/>
              </a:ext>
            </a:extLst>
          </p:cNvPr>
          <p:cNvSpPr>
            <a:spLocks noGrp="1"/>
          </p:cNvSpPr>
          <p:nvPr/>
        </p:nvSpPr>
        <p:spPr>
          <a:xfrm>
            <a:off x="9239250" y="2895600"/>
            <a:ext cx="26670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rPr>
              <a:t>14—16 页</a:t>
            </a:r>
          </a:p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49B4EC03-2AD2-42E0-99CB-705DBE3FC7A2}"/>
              </a:ext>
            </a:extLst>
          </p:cNvPr>
          <p:cNvSpPr>
            <a:spLocks noGrp="1"/>
          </p:cNvSpPr>
          <p:nvPr/>
        </p:nvSpPr>
        <p:spPr>
          <a:xfrm>
            <a:off x="9239250" y="3695700"/>
            <a:ext cx="2667000" cy="1619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rPr>
              <a:t>151 条黑盒评测</a:t>
            </a:r>
          </a:p>
          <a:p>
            <a: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rPr>
              <a:t>模拟范围与账本隐私</a:t>
            </a:r>
          </a:p>
          <a:p>
            <a:pPr>
              <a:def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2B3D"/>
                </a:solidFill>
                <a:latin typeface="Microsoft YaHei"/>
                <a:ea typeface="Microsoft YaHei"/>
                <a:cs typeface="Microsoft YaHei"/>
              </a:rPr>
              <a:t>开发与 AI 辅助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3E87AFC-DD70-4074-97EA-15A607E8F075}"/>
              </a:ext>
            </a:extLst>
          </p:cNvPr>
          <p:cNvSpPr>
            <a:spLocks noGrp="1"/>
          </p:cNvSpPr>
          <p:nvPr/>
        </p:nvSpPr>
        <p:spPr>
          <a:xfrm>
            <a:off x="552450" y="583882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16778D"/>
                </a:solidFill>
                <a:latin typeface="Microsoft YaHei"/>
                <a:ea typeface="Microsoft YaHei"/>
                <a:cs typeface="Microsoft YaHei"/>
              </a:rPr>
              <a:t>初赛评分：任务完成 40%    安全合规 30%    创新与交互 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574536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全部账户、资金、商户、短信均为模拟；界面人物为演示设定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45368" y="6547104"/>
            <a:ext cx="667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536A78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ea typeface="Microsoft YaHei"/>
                <a:latin typeface="Microsoft YaHei"/>
                <a:cs typeface="Microsoft YaHei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小安 · 模拟银行">
  <a:themeElements>
    <a:clrScheme name="小安 · 模拟银行">
      <a:dk1>
        <a:srgbClr val="0F172A"/>
      </a:dk1>
      <a:lt1>
        <a:srgbClr val="FFFFFF"/>
      </a:lt1>
      <a:dk2>
        <a:srgbClr val="13204A"/>
      </a:dk2>
      <a:lt2>
        <a:srgbClr val="EEF2FB"/>
      </a:lt2>
      <a:accent1>
        <a:srgbClr val="1D4ED8"/>
      </a:accent1>
      <a:accent2>
        <a:srgbClr val="059669"/>
      </a:accent2>
      <a:accent3>
        <a:srgbClr val="C2710C"/>
      </a:accent3>
      <a:accent4>
        <a:srgbClr val="DC2626"/>
      </a:accent4>
      <a:accent5>
        <a:srgbClr val="7C3AED"/>
      </a:accent5>
      <a:accent6>
        <a:srgbClr val="64748B"/>
      </a:accent6>
      <a:hlink>
        <a:srgbClr val="1D4ED8"/>
      </a:hlink>
      <a:folHlink>
        <a:srgbClr val="7C3AED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Company/>
  <LinksUpToDate>false</LinksUpToDate>
  <SharedDoc>false</SharedDoc>
  <HyperlinksChanged>false</HyperlinksChanged>
  <AppVersion>16.0000</AppVersion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Microsoft YaHei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小安 · 银行AI智能体 · 初赛作品说明</dc:title>
  <dc:subject/>
  <dc:creator/>
  <cp:lastModifiedBy/>
  <cp:revision>1</cp:revision>
  <dcterms:created xsi:type="dcterms:W3CDTF">2026-10-31T07:58:02Z</dcterms:created>
  <dcterms:modified xsi:type="dcterms:W3CDTF">2026-10-31T07:58:02Z</dcterms:modified>
  <cp:keywords/>
  <dc:description/>
  <dc:identifier/>
  <cp:category/>
</cp:coreProperties>
</file>