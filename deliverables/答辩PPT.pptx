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531e38e0-81f8-3e02-a042-6b9590c89090}">
          <p14:sldIdLst>
            <p14:sldId id="256"/>
          </p14:sldIdLst>
        </p14:section>
        <p14:section name="问题与方案" id="{893a9e3b-4739-4a55-d973-d2780316d11b}">
          <p14:sldIdLst>
            <p14:sldId id="257"/>
            <p14:sldId id="258"/>
          </p14:sldIdLst>
        </p14:section>
        <p14:section name="架构与规划" id="{5d7ffee9-93c2-0a27-68be-3642c7317fd6}">
          <p14:sldIdLst>
            <p14:sldId id="259"/>
            <p14:sldId id="260"/>
            <p14:sldId id="261"/>
          </p14:sldIdLst>
        </p14:section>
        <p14:section name="安全设计" id="{10650d9b-7d9c-469f-eff3-f70f2d573c76}">
          <p14:sldIdLst>
            <p14:sldId id="262"/>
            <p14:sldId id="263"/>
            <p14:sldId id="264"/>
            <p14:sldId id="265"/>
            <p14:sldId id="266"/>
          </p14:sldIdLst>
        </p14:section>
        <p14:section name="体验与评测" id="{55e80fda-0202-697b-e2ec-d57c4c40f8ff}">
          <p14:sldIdLst>
            <p14:sldId id="267"/>
            <p14:sldId id="268"/>
            <p14:sldId id="269"/>
          </p14:sldIdLst>
        </p14:section>
        <p14:section name="总结" id="{13684a3d-cd5e-217a-3020-21442d0e743c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204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204A"/>
                </a:solidFill>
                <a:latin typeface="+mn-lt"/>
              </a:rPr>
              <a:t>分场景通过率（%）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通过率</c:v>
                </c:pt>
              </c:strCache>
            </c:strRef>
          </c:tx>
          <c:spPr>
            <a:solidFill>
              <a:srgbClr val="1D4ED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04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转账</c:v>
                  </c:pt>
                  <c:pt idx="1">
                    <c:v>账单</c:v>
                  </c:pt>
                  <c:pt idx="2">
                    <c:v>理财</c:v>
                  </c:pt>
                  <c:pt idx="3">
                    <c:v>卡片</c:v>
                  </c:pt>
                  <c:pt idx="4">
                    <c:v>订阅</c:v>
                  </c:pt>
                  <c:pt idx="5">
                    <c:v>联动</c:v>
                  </c:pt>
                  <c:pt idx="6">
                    <c:v>体验</c:v>
                  </c:pt>
                  <c:pt idx="7">
                    <c:v>安全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100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3204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3204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各位评委好，我们的作品叫“小安”，是一个用自然语言办理银行业务的 AI 智能体。一句话概括：说一句就能办，每一步都有代码把关。它覆盖赛题的六大场景，所有数据都是模拟的。接下来十分钟，我们重点讲三件事：小安能办成什么、它为什么安全、我们怎么证明这两点。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先看行业。今年 4 月 Revolut 在 App 里推出了 AI 助手 AIR，能查消费、管订阅、控制卡片，每笔交易都要生物识别确认。但公开评论也指出了不足：只有 App 一个渠道；熟悉的操作用聊天反而更慢；缺少清晰的转人工出口；对冻结账户这类例外处理弱。小安的回答是：App 加飞书两个渠道并且按渠道分级风控；三档权限让低风险操作更快、高风险操作更严；保留常规页面；有明确的转人工和可回退的计划。当然我们也有不如它的地方：我们是模拟原型，没有生物识别。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这是小安的能力全景。转账、账单、理财、卡片、订阅、跨场景联动六大场景，赛题表里的 18 项典型能力都可以用口语直接办。比如“明天给小王转200，备注还饭钱”，一句话就生成定时转账单；“我卡丢了”，小安会给出临时冻结和正式挂失两个选项。卡片上的每一句，都是我们评测集里真实跑过的输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整体架构分三层：手机网页、智能体编排层、安全内核。核心原则是“模型提议，代码裁决”。模型负责听懂口语、规划和选择工具，但它看不到确认码、动态码和交易密码；判档、确认、强验证、执行和审计全部在代码里。所以即使模型被注入或者产生幻觉，最坏的结果也只是一张需要用户本人确认的待确认单，钱不会被转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赛题要求用户可以通过 App、IM 等渠道和 Agent 联通。小安有两个渠道：一是可以添加到手机主屏幕的网页应用；二是飞书私聊机器人。我们的创新是“渠道分级风控”：渠道越不可控，能办的事越少。查询在两边都能直接办；小额操作在飞书里要点卡片按钮，打字“确认”无效；大额转账等红档操作在飞书里只生成待办，必须回 App 输入交易密码和动态码，动态码绝不发到飞书。绑定需要在 App 里生成一次性绑定码，群聊一律忽略。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复杂任务怎么办？以生日为例：首页主动提醒“爱人 11 月 12 号生日”，点“帮我准备”，模型生成一个四步的 DAG 计划：先锁定一千元预算，再在生日前两天订花和蛋糕，最后当天提醒。用户只需要确认一次，代码把每一步的参数都绑定进哈希。到点由调度器执行，执行前会重新判档；中途可以暂停、去掉一步、全部回退或者转人工，回退时会自动释放预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权限分三档，全部由代码判定。绿档是查询类，自动执行；黄档展示详情，用户点确认按钮，确认码绑定全部参数的哈希、五分钟有效、只能用一次；红档要交易密码加短信动态码。我们特别设计了“风险对称”：冻结卡、下调限额这类降低风险的操作只要点确认，解冻、上调限额这类增加风险的操作必须强验证。另外，聊天里说“我确认了”是不算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红档操作需要两个因素：交易密码，加上发到绑定手机的模拟短信动态码。短信正文写明对象和金额，比如“向刘芳转账两千元”，这叫所见即所签，防止骗子诱导用户把验证码转发出去。动态码只出现在右边的模拟手机里，不进聊天、不给模型、不进日志。交易密码或动态码连续错三次，红档操作锁十分钟，锁状态存在数据库里，重启服务也不会清零——评测里我们专门重启后端验证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诱导转账是赛题点名的第一类风险。我们有三层：第一，收款方在风险名单上的直接拒绝，比如“客服让我把钱转到安全账户”，代码在调用模型之前就拦下并解释骗局；第二，每笔转账由代码打零到一百分，看是不是首次收款、金额是否异常、有没有诈骗话术和催促用语；第三，六十分以上强制升为红档，加三十秒冷静期，默认二十四小时后到账，到账前一句“撤回刚才那笔”就能全额退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于注入、信息套取和越权，单靠提示词是挡不住的，所以我们设了五层，每一层都由代码兜底。第一层输入守卫，命中就不调用模型，十分钟三次直接转为只读；第二层把交易备注、产品说明这类外部文本包起来，明确是数据不是指令；第三层参数溯源，转账金额和收款人必须来自用户原话——右边这个例子，用户说“按那条备注说的办”，小安拒绝了，即使模型被说服，备注里的号码也过不了溯源；第四、五层是代码判档和代码渲染确认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防幻觉分两头：写操作之前做参数溯源，金额、收款人、日期必须能追溯到用户本人说过的话；回复之后做事实校验，每个数字都要在工具结果里找得到，对不上就用代码模板重写，没有回执不许说“已完成”。赛题还要求生成的代码在受限环境里运行：比如“周末和工作日外卖平均各花多少”，模型写一段分析代码，先过语法树白名单，再放进没有网络、限制 CPU 和内存的子进程里跑，只给本人交易的只读快照，代码哈希写进审计。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体验上，小安是手机银行风格，可以添加到主屏幕。首页会主动提醒生日、续费、涨价和可疑交易；对话支持省略和改主意，比如“再给小张转两百”“第二笔算了”“改成三百”；遇到两个“小李”会给选项，问天气、机票、个股推荐会说明能力边界。评测里任务平均 1.17 轮办成，每轮大约 2.0 秒。右侧的“安全透视”实时展示每一步：守卫、模型提议、溯源、判档、事实校验和审计。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怎么证明？我们自建了 151 条黑盒评测用例：任务 87 条、安全 45 条、体验 19 条，用真实大模型、只通过 HTTP 接口测试。评测集由不看后端实现的一方编写。结果：任务完成率 100%，攻击拦截率 100%，工具调用正确率 100%，体验用例 100%；每一轮回复都检查有没有泄露动态码、交易密码、确认码和完整手机号，泄露 0 次；正常请求被误拦 0/107。这是第三次全量运行的结果，前两次的失败和修复过程都照实写在测试报告里。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也如实列出边界。第一是大模型的随机性，偶尔会多问一轮，但不影响资金安全，因为执行仍然要确认。第二，规则守卫可能漏掉新话术，但后面还有参数溯源和代码判档兜底。第三，沙箱的网络隔离依赖操作系统支持，不支持时会如实标注。第四，审计哈希链能发现篡改，但不能防止整库删除。第五，短信、风险名单和客服都是模拟的，真实部署需要接入真实数据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总结一下：小安做到了三件事——说一句就能办，每一步都有代码把关，并且用独立的黑盒评测来证明。我们团队是三名大一学生，开发中使用了 AI 编程助手：一个会话写引擎和单元测试，另一个会话写前端、评测集和材料，评测集由不看实现的一方独立编写。模型提议，代码裁决。谢谢各位评委。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C0E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小安 · 银行 AI 智能体　｜　全部账户、资金、商户、短信均为模拟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C0E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0E8"/>
                </a:solidFill>
              </a:rPr>
              <a:t>FinTechathon 2026 · 人工智能赛道 · 银行 AI 智能体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小安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0604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chemeClr val="bg1"/>
                </a:solidFill>
              </a:rPr>
              <a:t>说一句就能办，每一步都有代码把关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56616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9EE0C5"/>
                </a:solidFill>
              </a:rPr>
              <a:t>模型提议，代码裁决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D7E1F8"/>
                </a:solidFill>
              </a:rPr>
              <a:t>六大场景 · App + 飞书 · 三档权限 · 强验证 · 反诈 · 防幻觉 · 沙箱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9893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FC0E8"/>
                </a:solidFill>
              </a:rPr>
              <a:t>全部账户、资金、商户、短信均为模拟数据</a:t>
            </a:r>
            <a:endParaRPr lang="en-US" sz="1200" dirty="0"/>
          </a:p>
        </p:txBody>
      </p:sp>
      <p:pic>
        <p:nvPicPr>
          <p:cNvPr id="7" name="Image 0" descr="界面截图：01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502920"/>
            <a:ext cx="2704197" cy="585216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8" name="Image 1" descr="界面截图：03-red-strong-au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914400"/>
            <a:ext cx="2366173" cy="512064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C0E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行业对标：Revolut AIR 已经上线，但还有缺口</a:t>
            </a:r>
            <a:endParaRPr lang="en-US" sz="3000" dirty="0"/>
          </a:p>
        </p:txBody>
      </p:sp>
      <p:sp>
        <p:nvSpPr>
          <p:cNvPr id="3" name="副标题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2026-04 Revolut 在 App 内推出 AI 助手 AIR（以下只引用公开资料）</a:t>
            </a:r>
            <a:endParaRPr lang="en-US" sz="1500" dirty="0"/>
          </a:p>
        </p:txBody>
      </p:sp>
      <p:sp>
        <p:nvSpPr>
          <p:cNvPr id="4" name="卡片-AIR 做到了"/>
          <p:cNvSpPr/>
          <p:nvPr/>
        </p:nvSpPr>
        <p:spPr>
          <a:xfrm>
            <a:off x="548640" y="1554480"/>
            <a:ext cx="3611880" cy="406908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圆标-有"/>
          <p:cNvSpPr/>
          <p:nvPr/>
        </p:nvSpPr>
        <p:spPr>
          <a:xfrm>
            <a:off x="777240" y="178308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有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7556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AIR 做到了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450592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消费查询与洞察、投资跟踪、订阅管理、卡片控制（含冻结丢失的卡）、旅行规划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推荐问题、语音输入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每笔金融交易都要生物识别确认</a:t>
            </a:r>
            <a:endParaRPr lang="en-US" sz="1400" dirty="0"/>
          </a:p>
        </p:txBody>
      </p:sp>
      <p:sp>
        <p:nvSpPr>
          <p:cNvPr id="9" name="卡片-评论指出的不足"/>
          <p:cNvSpPr/>
          <p:nvPr/>
        </p:nvSpPr>
        <p:spPr>
          <a:xfrm>
            <a:off x="4297680" y="1554480"/>
            <a:ext cx="3611880" cy="406908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圆标-缺"/>
          <p:cNvSpPr/>
          <p:nvPr/>
        </p:nvSpPr>
        <p:spPr>
          <a:xfrm>
            <a:off x="4526280" y="178308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2628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缺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257800" y="17556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评论指出的不足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2450592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只有 App 内一个渠道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熟悉的操作用聊天反而更慢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“逃不出自动客服循环”，缺少清晰的转人工出口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冻结账户、反洗钱触发等例外处理弱</a:t>
            </a:r>
            <a:endParaRPr lang="en-US" sz="1400" dirty="0"/>
          </a:p>
        </p:txBody>
      </p:sp>
      <p:sp>
        <p:nvSpPr>
          <p:cNvPr id="14" name="卡片-小安的回答"/>
          <p:cNvSpPr/>
          <p:nvPr/>
        </p:nvSpPr>
        <p:spPr>
          <a:xfrm>
            <a:off x="8046720" y="1554480"/>
            <a:ext cx="3611880" cy="406908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圆标-答"/>
          <p:cNvSpPr/>
          <p:nvPr/>
        </p:nvSpPr>
        <p:spPr>
          <a:xfrm>
            <a:off x="8275320" y="17830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753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答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9006840" y="17556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小安的回答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450592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App + 飞书，按渠道分级风控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三档权限：低风险点确认，高风险强验证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保留常规页面和按钮，聊天不是唯一入口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明确的转人工、反诈拦截与可回退计划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742432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来源：revolut.com 新闻稿与博客（AIR 发布）、ergomania.eu（UX 评论）、uktech.news（2026-04-09 报道）。我们不足之处：模拟原型、没有生物识别、没有旅行场景。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六大场景，18 项典型能力都能用口语办</a:t>
            </a:r>
            <a:endParaRPr lang="en-US" sz="3000" dirty="0"/>
          </a:p>
        </p:txBody>
      </p:sp>
      <p:sp>
        <p:nvSpPr>
          <p:cNvPr id="3" name="副标题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以下都是真实输入，在评测集中逐条验证</a:t>
            </a:r>
            <a:endParaRPr lang="en-US" sz="1500" dirty="0"/>
          </a:p>
        </p:txBody>
      </p:sp>
      <p:sp>
        <p:nvSpPr>
          <p:cNvPr id="4" name="卡片-智能转账"/>
          <p:cNvSpPr/>
          <p:nvPr/>
        </p:nvSpPr>
        <p:spPr>
          <a:xfrm>
            <a:off x="548640" y="1554480"/>
            <a:ext cx="361188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圆标-转"/>
          <p:cNvSpPr/>
          <p:nvPr/>
        </p:nvSpPr>
        <p:spPr>
          <a:xfrm>
            <a:off x="777240" y="178308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转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7556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智能转账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450592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“明天给小王转200，备注还饭钱”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按称呼/手机号/用途转账、定时、AA、大额、延时到账</a:t>
            </a:r>
            <a:endParaRPr lang="en-US" sz="1400" dirty="0"/>
          </a:p>
        </p:txBody>
      </p:sp>
      <p:sp>
        <p:nvSpPr>
          <p:cNvPr id="9" name="卡片-账单分析"/>
          <p:cNvSpPr/>
          <p:nvPr/>
        </p:nvSpPr>
        <p:spPr>
          <a:xfrm>
            <a:off x="4343400" y="1554480"/>
            <a:ext cx="361188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圆标-账"/>
          <p:cNvSpPr/>
          <p:nvPr/>
        </p:nvSpPr>
        <p:spPr>
          <a:xfrm>
            <a:off x="4572000" y="17830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账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17556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账单分析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450592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“帮我看看有没有异常扣款”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分类统计、月报年报、异常识别、资金预估</a:t>
            </a:r>
            <a:endParaRPr lang="en-US" sz="1400" dirty="0"/>
          </a:p>
        </p:txBody>
      </p:sp>
      <p:sp>
        <p:nvSpPr>
          <p:cNvPr id="14" name="卡片-理财"/>
          <p:cNvSpPr/>
          <p:nvPr/>
        </p:nvSpPr>
        <p:spPr>
          <a:xfrm>
            <a:off x="8138160" y="1554480"/>
            <a:ext cx="361188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圆标-理"/>
          <p:cNvSpPr/>
          <p:nvPr/>
        </p:nvSpPr>
        <p:spPr>
          <a:xfrm>
            <a:off x="8366760" y="1783080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676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理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9098280" y="17556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理财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2450592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“我想买点稳的理财”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风险测评、推荐对比、申购赎回、适当性拦截</a:t>
            </a:r>
            <a:endParaRPr lang="en-US" sz="1400" dirty="0"/>
          </a:p>
        </p:txBody>
      </p:sp>
      <p:sp>
        <p:nvSpPr>
          <p:cNvPr id="19" name="卡片-卡片管理"/>
          <p:cNvSpPr/>
          <p:nvPr/>
        </p:nvSpPr>
        <p:spPr>
          <a:xfrm>
            <a:off x="548640" y="3931920"/>
            <a:ext cx="361188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圆标-卡"/>
          <p:cNvSpPr/>
          <p:nvPr/>
        </p:nvSpPr>
        <p:spPr>
          <a:xfrm>
            <a:off x="777240" y="416052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4160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卡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41330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卡片管理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4828032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“我卡丢了”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冻结/解冻、挂失/解挂、限额、虚拟卡</a:t>
            </a:r>
            <a:endParaRPr lang="en-US" sz="1400" dirty="0"/>
          </a:p>
        </p:txBody>
      </p:sp>
      <p:sp>
        <p:nvSpPr>
          <p:cNvPr id="24" name="卡片-订阅 / 代扣"/>
          <p:cNvSpPr/>
          <p:nvPr/>
        </p:nvSpPr>
        <p:spPr>
          <a:xfrm>
            <a:off x="4343400" y="3931920"/>
            <a:ext cx="361188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圆标-订"/>
          <p:cNvSpPr/>
          <p:nvPr/>
        </p:nvSpPr>
        <p:spPr>
          <a:xfrm>
            <a:off x="4572000" y="416052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0" y="4160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订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5303520" y="41330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订阅 / 代扣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0" y="4828032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“健身会员不要了”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自动识别、续费/涨价/闲置提醒、一键取消</a:t>
            </a:r>
            <a:endParaRPr lang="en-US" sz="1400" dirty="0"/>
          </a:p>
        </p:txBody>
      </p:sp>
      <p:sp>
        <p:nvSpPr>
          <p:cNvPr id="29" name="卡片-跨场景联动"/>
          <p:cNvSpPr/>
          <p:nvPr/>
        </p:nvSpPr>
        <p:spPr>
          <a:xfrm>
            <a:off x="8138160" y="3931920"/>
            <a:ext cx="361188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圆标-联"/>
          <p:cNvSpPr/>
          <p:nvPr/>
        </p:nvSpPr>
        <p:spPr>
          <a:xfrm>
            <a:off x="8366760" y="4160520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66760" y="4160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联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9098280" y="41330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跨场景联动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8366760" y="4828032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首页提醒爱人生日 → 一键生成计划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锁预算、到点订花和蛋糕、可回退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架构：模型提议，代码裁决</a:t>
            </a:r>
            <a:endParaRPr lang="en-US" sz="3000" dirty="0"/>
          </a:p>
        </p:txBody>
      </p:sp>
      <p:pic>
        <p:nvPicPr>
          <p:cNvPr id="3" name="Image 0" descr="系统架构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5852160" cy="5106597"/>
          </a:xfrm>
          <a:prstGeom prst="rect">
            <a:avLst/>
          </a:prstGeom>
        </p:spPr>
      </p:pic>
      <p:sp>
        <p:nvSpPr>
          <p:cNvPr id="4" name="圆标-提"/>
          <p:cNvSpPr/>
          <p:nvPr/>
        </p:nvSpPr>
        <p:spPr>
          <a:xfrm>
            <a:off x="6858000" y="1417320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0" y="1417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提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589520" y="1325880"/>
            <a:ext cx="4069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模型只负责“提议”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听懂口语、规划步骤、选择工具、写一两句回复。看不到确认码、动态码、交易密码。</a:t>
            </a:r>
            <a:endParaRPr lang="en-US" sz="1500" dirty="0"/>
          </a:p>
        </p:txBody>
      </p:sp>
      <p:sp>
        <p:nvSpPr>
          <p:cNvPr id="7" name="圆标-裁"/>
          <p:cNvSpPr/>
          <p:nvPr/>
        </p:nvSpPr>
        <p:spPr>
          <a:xfrm>
            <a:off x="6858000" y="297180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0" y="2971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裁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589520" y="2880360"/>
            <a:ext cx="4069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代码负责“裁决”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判档、累计金额、确认、强验证、执行前复查、执行、审计，全部在安全内核里。</a:t>
            </a:r>
            <a:endParaRPr lang="en-US" sz="1500" dirty="0"/>
          </a:p>
        </p:txBody>
      </p:sp>
      <p:sp>
        <p:nvSpPr>
          <p:cNvPr id="10" name="圆标-单"/>
          <p:cNvSpPr/>
          <p:nvPr/>
        </p:nvSpPr>
        <p:spPr>
          <a:xfrm>
            <a:off x="6858000" y="452628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0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单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434840"/>
            <a:ext cx="4069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最坏情况：一张待确认单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即使模型被注入或产生幻觉，它也只能提出一张需要用户本人确认的单子。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多渠道：App + 飞书，按渠道分级风控</a:t>
            </a:r>
            <a:endParaRPr lang="en-US" sz="3000" dirty="0"/>
          </a:p>
        </p:txBody>
      </p:sp>
      <p:sp>
        <p:nvSpPr>
          <p:cNvPr id="3" name="副标题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渠道越不可控，能办的事越少；同一个安全内核、同一本模拟账本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78638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347472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App（可安装的手机网页 PWA）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飞书私聊机器人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59669"/>
                          </a:solidFill>
                        </a:rPr>
                        <a:t>绿档 · 查询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直接办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直接办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C2710C"/>
                          </a:solidFill>
                        </a:rPr>
                        <a:t>黄档 · 小额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确认按钮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飞书卡片上的确认按钮；打字“确认”无效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DC2626"/>
                          </a:solidFill>
                        </a:rPr>
                        <a:t>红档 · 大额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交易密码 + 短信动态码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只生成待办，回 App 强验证；动态码绝不发到飞书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准入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演示登录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App 内生成一次性绑定码；只处理私聊，群聊忽略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6235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飞书机器人用长连接，不需要公网地址；主动推送定时任务结果、续费和生日提醒、AA 收款。真机联调待队长建好飞书应用后进行。</a:t>
            </a:r>
            <a:endParaRPr lang="en-US" sz="1300" dirty="0"/>
          </a:p>
        </p:txBody>
      </p:sp>
      <p:pic>
        <p:nvPicPr>
          <p:cNvPr id="6" name="Image 0" descr="界面截图：16-feishu-bi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0" y="1417320"/>
            <a:ext cx="2239413" cy="484632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Agent 规划：工具调用 + DAG 计划，一次确认</a:t>
            </a:r>
            <a:endParaRPr lang="en-US" sz="3000" dirty="0"/>
          </a:p>
        </p:txBody>
      </p:sp>
      <p:sp>
        <p:nvSpPr>
          <p:cNvPr id="3" name="副标题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复杂任务拆成有依赖关系的步骤，代码校验后整体确认、到点执行、随时可回退</a:t>
            </a:r>
            <a:endParaRPr lang="en-US" sz="1500" dirty="0"/>
          </a:p>
        </p:txBody>
      </p:sp>
      <p:pic>
        <p:nvPicPr>
          <p:cNvPr id="4" name="Image 0" descr="生日筹备计划 DA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4663440" cy="4649492"/>
          </a:xfrm>
          <a:prstGeom prst="rect">
            <a:avLst/>
          </a:prstGeom>
        </p:spPr>
      </p:pic>
      <p:pic>
        <p:nvPicPr>
          <p:cNvPr id="5" name="Image 1" descr="界面截图：09-plan-runn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463040"/>
            <a:ext cx="2197160" cy="4754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7909560" y="1554480"/>
            <a:ext cx="37490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工具调用：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DeepSeek 原生工具调用，一轮最多 6 步，可并行（如同时解析日期和联系人）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一次确认整个计划：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绑定全部节点参数哈希，档位取最高档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到点执行：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调度器按执行日重新判档，超出授权就不执行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可中断：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暂停、继续、去掉一步、全部回退（释放预算）、转人工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权限三档，全部由代码判定</a:t>
            </a:r>
            <a:endParaRPr lang="en-US" sz="3000" dirty="0"/>
          </a:p>
        </p:txBody>
      </p:sp>
      <p:sp>
        <p:nvSpPr>
          <p:cNvPr id="3" name="副标题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模型输出里没有“档位”这个字段，也无法传入</a:t>
            </a:r>
            <a:endParaRPr lang="en-US" sz="1500" dirty="0"/>
          </a:p>
        </p:txBody>
      </p:sp>
      <p:sp>
        <p:nvSpPr>
          <p:cNvPr id="4" name="卡片-绿档 · 自动执行"/>
          <p:cNvSpPr/>
          <p:nvPr/>
        </p:nvSpPr>
        <p:spPr>
          <a:xfrm>
            <a:off x="548640" y="1554480"/>
            <a:ext cx="694944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圆标-绿"/>
          <p:cNvSpPr/>
          <p:nvPr/>
        </p:nvSpPr>
        <p:spPr>
          <a:xfrm>
            <a:off x="777240" y="17830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绿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755648"/>
            <a:ext cx="5806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绿档 · 自动执行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450592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查询、统计、月报年报、异常识别、产品对比、沙箱分析</a:t>
            </a:r>
            <a:endParaRPr lang="en-US" sz="1400" dirty="0"/>
          </a:p>
        </p:txBody>
      </p:sp>
      <p:sp>
        <p:nvSpPr>
          <p:cNvPr id="9" name="卡片-黄档 · 确认按钮"/>
          <p:cNvSpPr/>
          <p:nvPr/>
        </p:nvSpPr>
        <p:spPr>
          <a:xfrm>
            <a:off x="548640" y="3127248"/>
            <a:ext cx="694944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圆标-黄"/>
          <p:cNvSpPr/>
          <p:nvPr/>
        </p:nvSpPr>
        <p:spPr>
          <a:xfrm>
            <a:off x="777240" y="3355848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3558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黄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328416"/>
            <a:ext cx="5806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黄档 · 确认按钮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02336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当日累计 ≤ ¥1,000 的转账、冻结卡、赎回、取消订阅、计划确认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确认码绑定参数哈希、5 分钟、一次性</a:t>
            </a:r>
            <a:endParaRPr lang="en-US" sz="1400" dirty="0"/>
          </a:p>
        </p:txBody>
      </p:sp>
      <p:sp>
        <p:nvSpPr>
          <p:cNvPr id="14" name="卡片-红档 · 强验证"/>
          <p:cNvSpPr/>
          <p:nvPr/>
        </p:nvSpPr>
        <p:spPr>
          <a:xfrm>
            <a:off x="548640" y="4700016"/>
            <a:ext cx="694944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圆标-红"/>
          <p:cNvSpPr/>
          <p:nvPr/>
        </p:nvSpPr>
        <p:spPr>
          <a:xfrm>
            <a:off x="777240" y="4928616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红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4901184"/>
            <a:ext cx="5806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红档 · 强验证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5596128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大额转账、解冻、挂失、上调限额、理财申购、高风险转账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交易密码 + 模拟短信动态码</a:t>
            </a:r>
            <a:endParaRPr lang="en-US" sz="1400" dirty="0"/>
          </a:p>
        </p:txBody>
      </p:sp>
      <p:sp>
        <p:nvSpPr>
          <p:cNvPr id="19" name="风险对称"/>
          <p:cNvSpPr/>
          <p:nvPr/>
        </p:nvSpPr>
        <p:spPr>
          <a:xfrm>
            <a:off x="7863840" y="1554480"/>
            <a:ext cx="3794760" cy="4562856"/>
          </a:xfrm>
          <a:prstGeom prst="roundRect">
            <a:avLst>
              <a:gd name="adj" fmla="val 289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138160" y="1783080"/>
            <a:ext cx="32918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9EE0C5"/>
                </a:solidFill>
              </a:rPr>
              <a:t>风险对称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降低风险的操作低摩擦：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冻结卡、下调限额 → 黄档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增加风险的操作强验证：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解冻、上调限额、挂失解挂 → 红档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D58A"/>
                </a:solidFill>
              </a:rPr>
              <a:t>聊天里说“我确认了”不算确认。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红档强验证与熔断</a:t>
            </a:r>
            <a:endParaRPr lang="en-US" sz="3000" dirty="0"/>
          </a:p>
        </p:txBody>
      </p:sp>
      <p:sp>
        <p:nvSpPr>
          <p:cNvPr id="3" name="副标题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两个因素，所见即所签；连续失败就锁定，重启也不清零</a:t>
            </a:r>
            <a:endParaRPr lang="en-US" sz="1500" dirty="0"/>
          </a:p>
        </p:txBody>
      </p:sp>
      <p:pic>
        <p:nvPicPr>
          <p:cNvPr id="4" name="Image 0" descr="界面截图：03-red-strong-au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2239413" cy="484632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5" name="Image 1" descr="桌面端：强验证面板与模拟手机短信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093" y="1463040"/>
            <a:ext cx="4754880" cy="3146843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183880" y="1463040"/>
            <a:ext cx="347472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两个因素：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交易密码（PBKDF2 存储）+ 绑定手机的模拟短信动态码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所见即所签：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短信写明“向 刘芳 转账 2,000.00 元”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动态码只在模拟手机里，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不进聊天、不给模型、不进日志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3 次失败锁 10 分钟，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锁状态写在库里，重启不清零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反诈守护：评分升档 + 冷静期 + 延时到账可撤回</a:t>
            </a:r>
            <a:endParaRPr lang="en-US" sz="3000" dirty="0"/>
          </a:p>
        </p:txBody>
      </p:sp>
      <p:sp>
        <p:nvSpPr>
          <p:cNvPr id="3" name="副标题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诱导转账是赛题点名的第一类风险</a:t>
            </a:r>
            <a:endParaRPr lang="en-US" sz="1500" dirty="0"/>
          </a:p>
        </p:txBody>
      </p:sp>
      <p:pic>
        <p:nvPicPr>
          <p:cNvPr id="4" name="Image 0" descr="反诈评分流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7223760" cy="2335519"/>
          </a:xfrm>
          <a:prstGeom prst="rect">
            <a:avLst/>
          </a:prstGeom>
        </p:spPr>
      </p:pic>
      <p:pic>
        <p:nvPicPr>
          <p:cNvPr id="5" name="Image 1" descr="界面截图：05-frau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417320"/>
            <a:ext cx="2239413" cy="484632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548640" y="4069080"/>
            <a:ext cx="7315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风险名单直接拒绝：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“客服让我把钱转到安全账户”——在调用模型之前就拦下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代码打分 0–100：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首次收款人、金额异常、诈骗话术、催促用语、凌晨、短时多笔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≥ 60 分：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强制红档 + 30 秒冷静期 + 默认 24 小时后到账，到账前可撤回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注入、套取、越权：五层防线</a:t>
            </a:r>
            <a:endParaRPr lang="en-US" sz="3000" dirty="0"/>
          </a:p>
        </p:txBody>
      </p:sp>
      <p:sp>
        <p:nvSpPr>
          <p:cNvPr id="3" name="副标题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单靠提示词挡不住注入；我们让每一层都由代码兜底</a:t>
            </a:r>
            <a:endParaRPr lang="en-US" sz="1500" dirty="0"/>
          </a:p>
        </p:txBody>
      </p:sp>
      <p:sp>
        <p:nvSpPr>
          <p:cNvPr id="4" name="防线1"/>
          <p:cNvSpPr/>
          <p:nvPr/>
        </p:nvSpPr>
        <p:spPr>
          <a:xfrm>
            <a:off x="548640" y="1508760"/>
            <a:ext cx="6949440" cy="804672"/>
          </a:xfrm>
          <a:prstGeom prst="roundRect">
            <a:avLst>
              <a:gd name="adj" fmla="val 11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圆标-1"/>
          <p:cNvSpPr/>
          <p:nvPr/>
        </p:nvSpPr>
        <p:spPr>
          <a:xfrm>
            <a:off x="685800" y="1645920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64592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563624"/>
            <a:ext cx="5989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输入守卫　</a:t>
            </a:r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中英文注入与信息套取规则，命中不调用模型；10 分钟 3 次 → 会话只读</a:t>
            </a:r>
            <a:endParaRPr lang="en-US" sz="1350" dirty="0"/>
          </a:p>
        </p:txBody>
      </p:sp>
      <p:sp>
        <p:nvSpPr>
          <p:cNvPr id="8" name="防线2"/>
          <p:cNvSpPr/>
          <p:nvPr/>
        </p:nvSpPr>
        <p:spPr>
          <a:xfrm>
            <a:off x="749808" y="2441448"/>
            <a:ext cx="6748272" cy="804672"/>
          </a:xfrm>
          <a:prstGeom prst="roundRect">
            <a:avLst>
              <a:gd name="adj" fmla="val 11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圆标-2"/>
          <p:cNvSpPr/>
          <p:nvPr/>
        </p:nvSpPr>
        <p:spPr>
          <a:xfrm>
            <a:off x="886968" y="2578608"/>
            <a:ext cx="530352" cy="530352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86968" y="25786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572768" y="2496312"/>
            <a:ext cx="5788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外部文本隔离　</a:t>
            </a:r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交易备注、商户名、产品说明包进 &lt;external_data&gt;，界面标“外部备注”</a:t>
            </a:r>
            <a:endParaRPr lang="en-US" sz="1350" dirty="0"/>
          </a:p>
        </p:txBody>
      </p:sp>
      <p:sp>
        <p:nvSpPr>
          <p:cNvPr id="12" name="防线3"/>
          <p:cNvSpPr/>
          <p:nvPr/>
        </p:nvSpPr>
        <p:spPr>
          <a:xfrm>
            <a:off x="950976" y="3374136"/>
            <a:ext cx="6547104" cy="804672"/>
          </a:xfrm>
          <a:prstGeom prst="roundRect">
            <a:avLst>
              <a:gd name="adj" fmla="val 11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圆标-3"/>
          <p:cNvSpPr/>
          <p:nvPr/>
        </p:nvSpPr>
        <p:spPr>
          <a:xfrm>
            <a:off x="1088136" y="3511296"/>
            <a:ext cx="530352" cy="53035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88136" y="351129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773936" y="3429000"/>
            <a:ext cx="55869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参数溯源　</a:t>
            </a:r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金额、收款人、日期必须来自用户原话；备注里的号码无效</a:t>
            </a:r>
            <a:endParaRPr lang="en-US" sz="1350" dirty="0"/>
          </a:p>
        </p:txBody>
      </p:sp>
      <p:sp>
        <p:nvSpPr>
          <p:cNvPr id="16" name="防线4"/>
          <p:cNvSpPr/>
          <p:nvPr/>
        </p:nvSpPr>
        <p:spPr>
          <a:xfrm>
            <a:off x="1152144" y="4306824"/>
            <a:ext cx="6345936" cy="804672"/>
          </a:xfrm>
          <a:prstGeom prst="roundRect">
            <a:avLst>
              <a:gd name="adj" fmla="val 11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圆标-4"/>
          <p:cNvSpPr/>
          <p:nvPr/>
        </p:nvSpPr>
        <p:spPr>
          <a:xfrm>
            <a:off x="1289304" y="4443984"/>
            <a:ext cx="530352" cy="53035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289304" y="444398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975104" y="4361688"/>
            <a:ext cx="538581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代码判档 + 工具白名单　</a:t>
            </a:r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模型无法自降档位、无法调用未登记的工具</a:t>
            </a:r>
            <a:endParaRPr lang="en-US" sz="1350" dirty="0"/>
          </a:p>
        </p:txBody>
      </p:sp>
      <p:sp>
        <p:nvSpPr>
          <p:cNvPr id="20" name="防线5"/>
          <p:cNvSpPr/>
          <p:nvPr/>
        </p:nvSpPr>
        <p:spPr>
          <a:xfrm>
            <a:off x="1353312" y="5239512"/>
            <a:ext cx="6144768" cy="804672"/>
          </a:xfrm>
          <a:prstGeom prst="roundRect">
            <a:avLst>
              <a:gd name="adj" fmla="val 11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圆标-5"/>
          <p:cNvSpPr/>
          <p:nvPr/>
        </p:nvSpPr>
        <p:spPr>
          <a:xfrm>
            <a:off x="1490472" y="5376672"/>
            <a:ext cx="530352" cy="530352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490472" y="53766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5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2176272" y="5294376"/>
            <a:ext cx="518464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代码渲染确认单　</a:t>
            </a:r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用户看到的收款人和金额由代码生成，模型改不了</a:t>
            </a:r>
            <a:endParaRPr lang="en-US" sz="1350" dirty="0"/>
          </a:p>
        </p:txBody>
      </p:sp>
      <p:pic>
        <p:nvPicPr>
          <p:cNvPr id="24" name="Image 0" descr="界面截图：07-indirect-inj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1417320"/>
            <a:ext cx="2239413" cy="484632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防幻觉与沙箱：数字只来自账本，代码只在笼子里跑</a:t>
            </a:r>
            <a:endParaRPr lang="en-US" sz="3000" dirty="0"/>
          </a:p>
        </p:txBody>
      </p:sp>
      <p:sp>
        <p:nvSpPr>
          <p:cNvPr id="3" name="副标题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参数溯源（写操作之前）· 事实校验（回复之后）· 沙箱（模型写的分析代码）</a:t>
            </a:r>
            <a:endParaRPr lang="en-US" sz="1500" dirty="0"/>
          </a:p>
        </p:txBody>
      </p:sp>
      <p:sp>
        <p:nvSpPr>
          <p:cNvPr id="4" name="卡片-参数溯源"/>
          <p:cNvSpPr/>
          <p:nvPr/>
        </p:nvSpPr>
        <p:spPr>
          <a:xfrm>
            <a:off x="548640" y="1554480"/>
            <a:ext cx="3611880" cy="452628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圆标-源"/>
          <p:cNvSpPr/>
          <p:nvPr/>
        </p:nvSpPr>
        <p:spPr>
          <a:xfrm>
            <a:off x="777240" y="17830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源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7556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参数溯源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450592"/>
            <a:ext cx="3154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金额、收款人、日期必须来自用户原话（代码解析“两百”“整五百”“下礼拜五”）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交易备注、产品说明、模型推测都不算；不通过就追问，不出单</a:t>
            </a:r>
            <a:endParaRPr lang="en-US" sz="1400" dirty="0"/>
          </a:p>
        </p:txBody>
      </p:sp>
      <p:sp>
        <p:nvSpPr>
          <p:cNvPr id="9" name="卡片-事实校验"/>
          <p:cNvSpPr/>
          <p:nvPr/>
        </p:nvSpPr>
        <p:spPr>
          <a:xfrm>
            <a:off x="4297680" y="1554480"/>
            <a:ext cx="3611880" cy="452628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圆标-核"/>
          <p:cNvSpPr/>
          <p:nvPr/>
        </p:nvSpPr>
        <p:spPr>
          <a:xfrm>
            <a:off x="4526280" y="178308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2628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核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257800" y="17556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事实校验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2450592"/>
            <a:ext cx="3154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回复里的金额、日期、笔数逐一和本轮工具结果比对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对不上就用代码模板重写并记入审计；没有回执不许说“已完成”</a:t>
            </a:r>
            <a:endParaRPr lang="en-US" sz="1400" dirty="0"/>
          </a:p>
        </p:txBody>
      </p:sp>
      <p:sp>
        <p:nvSpPr>
          <p:cNvPr id="14" name="卡片-沙箱分析"/>
          <p:cNvSpPr/>
          <p:nvPr/>
        </p:nvSpPr>
        <p:spPr>
          <a:xfrm>
            <a:off x="8046720" y="1554480"/>
            <a:ext cx="3611880" cy="452628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圆标-笼"/>
          <p:cNvSpPr/>
          <p:nvPr/>
        </p:nvSpPr>
        <p:spPr>
          <a:xfrm>
            <a:off x="8275320" y="1783080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753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笼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9006840" y="17556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沙箱分析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450592"/>
            <a:ext cx="3154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长尾问题让模型写分析代码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运行前语法树白名单；运行时独立子进程、无网络、CPU 2 秒、内存 256MB、5 秒超时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只给本人交易的只读快照；代码哈希写入审计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交互体验：主动、口语、会追问、能兜底</a:t>
            </a:r>
            <a:endParaRPr lang="en-US" sz="3000" dirty="0"/>
          </a:p>
        </p:txBody>
      </p:sp>
      <p:sp>
        <p:nvSpPr>
          <p:cNvPr id="3" name="副标题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手机银行风格 · 可添加到主屏幕 · “安全透视”让每一步决策看得见</a:t>
            </a:r>
            <a:endParaRPr lang="en-US" sz="1500" dirty="0"/>
          </a:p>
        </p:txBody>
      </p:sp>
      <p:pic>
        <p:nvPicPr>
          <p:cNvPr id="4" name="Image 0" descr="界面截图：01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2154907" cy="466344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5" name="Image 1" descr="界面截图：12-subscrip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0" y="1463040"/>
            <a:ext cx="2154907" cy="466344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6" name="Image 2" descr="界面截图：10-bill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1463040"/>
            <a:ext cx="2154907" cy="466344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7" name="Text 2"/>
          <p:cNvSpPr txBox="1"/>
          <p:nvPr/>
        </p:nvSpPr>
        <p:spPr>
          <a:xfrm>
            <a:off x="7909560" y="1463040"/>
            <a:ext cx="37490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主动关怀：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生日、续费、涨价、异常、房租提醒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口语与上下文：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“再给小张转200”“第二笔算了”“改成300”“下礼拜五”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追问与兜底：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重名给选项；天气、机票、个股推荐说明边界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高效：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信息齐全的一句话一轮出单；平均 1.17 轮，每轮约 2.0 秒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独立黑盒评测：151 条用例，真实大模型</a:t>
            </a:r>
            <a:endParaRPr lang="en-US" sz="3000" dirty="0"/>
          </a:p>
        </p:txBody>
      </p:sp>
      <p:sp>
        <p:nvSpPr>
          <p:cNvPr id="3" name="副标题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只依据接口契约、演示数据规格和验收句编写，编写者不读后端实现；失败照实保留（2026-10-31）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100%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5915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任务完成率（87/87）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337560" y="14630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100%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3337560" y="235915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攻击拦截率（45/45）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0632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5"/>
                </a:solidFill>
              </a:rPr>
              <a:t>100%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5935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工具调用正确率（119/119）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337560" y="30632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4"/>
                </a:solidFill>
              </a:rPr>
              <a:t>0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3337560" y="395935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动态码/密码/确认码/手机号泄露次数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6634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3"/>
                </a:solidFill>
              </a:rPr>
              <a:t>100%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5955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体验用例（19/19）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337560" y="46634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0%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3337560" y="555955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良性请求误拒（0/107）</a:t>
            </a:r>
            <a:endParaRPr lang="en-US" sz="13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6400800" y="1417320"/>
          <a:ext cx="525780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已知风险与边界（如实）</a:t>
            </a:r>
            <a:endParaRPr lang="en-US" sz="3000" dirty="0"/>
          </a:p>
        </p:txBody>
      </p:sp>
      <p:sp>
        <p:nvSpPr>
          <p:cNvPr id="3" name="副标题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完整清单见《安全自评报告》</a:t>
            </a:r>
            <a:endParaRPr lang="en-US" sz="15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291840"/>
                <a:gridCol w="452628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风险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影响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缓解 / 后续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大模型随机性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偶尔多问一轮、没给选项按钮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不影响资金安全：执行仍需确认；评测如实记录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规则守卫可能漏新话术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注入进入模型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参数溯源 + 代码判档 + 确认兜底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沙箱网络隔离依赖系统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无网络命名空间时降级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卡片如实标注；生产强制 Docker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审计防篡改不防删库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内部人员抵赖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生产环境把链头哈希写到外部存储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短信、风险名单、客服是模拟的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真实诈骗号码不在名单里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评分引擎不依赖名单；真实部署接入数据源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总结</a:t>
            </a:r>
            <a:endParaRPr lang="en-US" sz="3400" dirty="0"/>
          </a:p>
        </p:txBody>
      </p:sp>
      <p:sp>
        <p:nvSpPr>
          <p:cNvPr id="3" name="圆标-办"/>
          <p:cNvSpPr/>
          <p:nvPr/>
        </p:nvSpPr>
        <p:spPr>
          <a:xfrm>
            <a:off x="73152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45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办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155448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说一句就能办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D7E1F8"/>
                </a:solidFill>
              </a:rPr>
              <a:t>六大场景 18 项能力；任务完成率 100%</a:t>
            </a:r>
            <a:endParaRPr lang="en-US" sz="2000" dirty="0"/>
          </a:p>
        </p:txBody>
      </p:sp>
      <p:sp>
        <p:nvSpPr>
          <p:cNvPr id="6" name="圆标-守"/>
          <p:cNvSpPr/>
          <p:nvPr/>
        </p:nvSpPr>
        <p:spPr>
          <a:xfrm>
            <a:off x="731520" y="2880360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880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守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78892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每一步有代码把关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D7E1F8"/>
                </a:solidFill>
              </a:rPr>
              <a:t>三档权限、强验证、反诈、溯源、事实校验；攻击拦截率 100%</a:t>
            </a:r>
            <a:endParaRPr lang="en-US" sz="2000" dirty="0"/>
          </a:p>
        </p:txBody>
      </p:sp>
      <p:sp>
        <p:nvSpPr>
          <p:cNvPr id="9" name="圆标-证"/>
          <p:cNvSpPr/>
          <p:nvPr/>
        </p:nvSpPr>
        <p:spPr>
          <a:xfrm>
            <a:off x="731520" y="411480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114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证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402336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用独立评测证明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D7E1F8"/>
                </a:solidFill>
              </a:rPr>
              <a:t>151 条黑盒用例，失败如实保留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544068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EE0C5"/>
                </a:solidFill>
              </a:rPr>
              <a:t>团队与 AI 辅助开发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7E1F8"/>
                </a:solidFill>
              </a:rPr>
              <a:t>三名大一学生；使用 AI 编程助手（Claude Code）开发：一个会话写引擎与单元测试，另一个会话写前端、评测集与材料，评测集由不读实现的一方独立编写。</a:t>
            </a:r>
            <a:endParaRPr lang="en-US" sz="1300" dirty="0"/>
          </a:p>
        </p:txBody>
      </p:sp>
      <p:pic>
        <p:nvPicPr>
          <p:cNvPr id="13" name="Image 0" descr="安全透视面板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1463040"/>
            <a:ext cx="4114800" cy="272323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pic>
      <p:sp>
        <p:nvSpPr>
          <p:cNvPr id="14" name="Text 11"/>
          <p:cNvSpPr txBox="1"/>
          <p:nvPr/>
        </p:nvSpPr>
        <p:spPr>
          <a:xfrm>
            <a:off x="7589520" y="43434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EE0C5"/>
                </a:solidFill>
              </a:rPr>
              <a:t>模型提议，代码裁决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7589520" y="49377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谢谢各位评委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C0E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小安 · 模拟银行">
  <a:themeElements>
    <a:clrScheme name="小安 · 模拟银行">
      <a:dk1>
        <a:srgbClr val="0F172A"/>
      </a:dk1>
      <a:lt1>
        <a:srgbClr val="FFFFFF"/>
      </a:lt1>
      <a:dk2>
        <a:srgbClr val="13204A"/>
      </a:dk2>
      <a:lt2>
        <a:srgbClr val="EEF2FB"/>
      </a:lt2>
      <a:accent1>
        <a:srgbClr val="1D4ED8"/>
      </a:accent1>
      <a:accent2>
        <a:srgbClr val="059669"/>
      </a:accent2>
      <a:accent3>
        <a:srgbClr val="C2710C"/>
      </a:accent3>
      <a:accent4>
        <a:srgbClr val="DC2626"/>
      </a:accent4>
      <a:accent5>
        <a:srgbClr val="7C3AED"/>
      </a:accent5>
      <a:accent6>
        <a:srgbClr val="64748B"/>
      </a:accent6>
      <a:hlink>
        <a:srgbClr val="1D4ED8"/>
      </a:hlink>
      <a:folHlink>
        <a:srgbClr val="7C3AED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FinTechathon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小安 · 银行 AI 智能体 答辩</dc:title>
  <dc:subject>PptxGenJS Presentation</dc:subject>
  <dc:creator>FinTechathon 2026 参赛队</dc:creator>
  <cp:lastModifiedBy>FinTechathon 2026 参赛队</cp:lastModifiedBy>
  <cp:revision>1</cp:revision>
  <dcterms:created xsi:type="dcterms:W3CDTF">2026-10-31T07:58:02Z</dcterms:created>
  <dcterms:modified xsi:type="dcterms:W3CDTF">2026-10-31T07:58:02Z</dcterms:modified>
</cp:coreProperties>
</file>