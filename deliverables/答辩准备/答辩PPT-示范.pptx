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【示范说明】右上角是章节条：五个章节名一行灰色小字，当前章节（本页是“能办什么”）改成深蓝加粗；每页都放，不加色条。标题是结论句。左图换成了 PPT素材/a-架构简版.png。
【这一页必须说出口的一句话】模型能做的最坏的事，只是提出一张需要你本人确认的单子。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【放在封面之后，作为新第 2 页】
【这一页必须说出口的一句话】只靠规则，7 句口语只办成 2 句；只靠模型，它会被骗子的话带偏——所以我们让模型提议、代码裁决。
【事实出处】左：冲刺方案第 0 节“诊断”（规划会话 10-30 实测第一版）。右：演示回放里“按那条转账备注说的做”这一轮的决策链——模型第 2 步提出 transfer（收款 170****0000、金额 2000、备注“安全账户”），代码判档以“收款方在涉诈风险名单上”拒绝。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【放在已知风险之后，作为新第 16 页】橙色【】里的内容必须由队长换成真实例子，没有就删掉这一行，不要编。
已知有记录的例子：10-31 队长对照赛题指出三处没做全（冲刺方案第 11 节开头）；队长确认分工调整、视频由队长本人录制剪辑、PPT 由队员手改（status-B）。单元测试 370 项是会话 C 在 11-01 实跑的数字：2 项跳过，需要 Docker 的一组在云端起不来（报 1 个错误），其余通过；不要说成“370 项全部通过”。原始输出见 答辩准备/素材/单元测试输出-20261101.txt。
【这一页必须说出口的一句话】代码大部分是 AI 写的，但做什么、不做什么、哪条规则不能让步、结果算不算数，是我们定的。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【最后一页，不讲】讲完最后一句“以上是我们的全部内容，恳请各位评委批评指正”，翻到这页后不再翻页，整个提问环节停在这里。页面上不写“谢谢”。
橙色【最终数字】在 11-01 22:00 最终评测后，换成“任务 xx%·攻击拦截 xx%·泄露 x 次”。备用页放在这一页后面。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小安 · 银行 AI 智能体　｜　全部账户、资金、商户、短信均为模拟</a:t>
            </a:r>
            <a:endParaRPr lang="en-US" sz="1000" dirty="0"/>
          </a:p>
        </p:txBody>
      </p:sp>
      <p:sp>
        <p:nvSpPr>
          <p:cNvPr id="3" name="章节条"/>
          <p:cNvSpPr txBox="1"/>
          <p:nvPr/>
        </p:nvSpPr>
        <p:spPr>
          <a:xfrm>
            <a:off x="5303520" y="9144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问题</a:t>
            </a:r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　｜　</a:t>
            </a:r>
            <a:pPr algn="r" indent="0" marL="0">
              <a:buNone/>
            </a:pPr>
            <a:r>
              <a:rPr lang="en-US" sz="1050" b="1" dirty="0">
                <a:solidFill>
                  <a:srgbClr val="13204A"/>
                </a:solidFill>
              </a:rPr>
              <a:t>能办什么</a:t>
            </a:r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　｜　</a:t>
            </a:r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为什么安全</a:t>
            </a:r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　｜　</a:t>
            </a:r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体验与创新</a:t>
            </a:r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　｜　</a:t>
            </a:r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证据与边界</a:t>
            </a:r>
            <a:endParaRPr lang="en-US" sz="1050" dirty="0"/>
          </a:p>
        </p:txBody>
      </p:sp>
      <p:sp>
        <p:nvSpPr>
          <p:cNvPr id="4" name="标题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4A"/>
                </a:solidFill>
              </a:rPr>
              <a:t>模型提议，代码裁决：模型最坏只能提一张待确认单</a:t>
            </a:r>
            <a:endParaRPr lang="en-US" sz="2800" dirty="0"/>
          </a:p>
        </p:txBody>
      </p:sp>
      <p:sp>
        <p:nvSpPr>
          <p:cNvPr id="5" name="副标题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大模型负责听懂、规划、选工具；档位、确认、强验证、执行、审计全部在代码里</a:t>
            </a:r>
            <a:endParaRPr lang="en-US" sz="1500" dirty="0"/>
          </a:p>
        </p:txBody>
      </p:sp>
      <p:pic>
        <p:nvPicPr>
          <p:cNvPr id="6" name="Image 0" descr="四层架构：渠道层、Agent 编排层（模型提议）、安全内核（代码裁决）、账本与沙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583680" cy="4756709"/>
          </a:xfrm>
          <a:prstGeom prst="rect">
            <a:avLst/>
          </a:prstGeom>
        </p:spPr>
      </p:pic>
      <p:sp>
        <p:nvSpPr>
          <p:cNvPr id="7" name="圆标-提"/>
          <p:cNvSpPr/>
          <p:nvPr/>
        </p:nvSpPr>
        <p:spPr>
          <a:xfrm>
            <a:off x="7452360" y="160020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5236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提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15819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4A"/>
                </a:solidFill>
              </a:rPr>
              <a:t>模型只负责“提议”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2011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听懂口语、规划步骤、选择工具、写一两句回复；看不到确认码、动态码、交易密码</a:t>
            </a:r>
            <a:endParaRPr lang="en-US" sz="1400" dirty="0"/>
          </a:p>
        </p:txBody>
      </p:sp>
      <p:sp>
        <p:nvSpPr>
          <p:cNvPr id="11" name="圆标-裁"/>
          <p:cNvSpPr/>
          <p:nvPr/>
        </p:nvSpPr>
        <p:spPr>
          <a:xfrm>
            <a:off x="7452360" y="3108960"/>
            <a:ext cx="566928" cy="5669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52360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裁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30906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4A"/>
                </a:solidFill>
              </a:rPr>
              <a:t>代码负责“裁决”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35204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判档、累计金额、确认、强验证、执行前复查、执行、审计，全在安全内核</a:t>
            </a:r>
            <a:endParaRPr lang="en-US" sz="1400" dirty="0"/>
          </a:p>
        </p:txBody>
      </p:sp>
      <p:sp>
        <p:nvSpPr>
          <p:cNvPr id="15" name="圆标-单"/>
          <p:cNvSpPr/>
          <p:nvPr/>
        </p:nvSpPr>
        <p:spPr>
          <a:xfrm>
            <a:off x="7452360" y="4617720"/>
            <a:ext cx="566928" cy="566928"/>
          </a:xfrm>
          <a:prstGeom prst="ellipse">
            <a:avLst/>
          </a:prstGeom>
          <a:solidFill>
            <a:srgbClr val="C2710C"/>
          </a:solidFill>
          <a:ln w="12700">
            <a:solidFill>
              <a:srgbClr val="C271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5236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单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5994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4A"/>
                </a:solidFill>
              </a:rPr>
              <a:t>最坏情况：一张待确认单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5029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模型被注入或产生幻觉，也只能提出一张要用户本人确认的单子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小安 · 银行 AI 智能体　｜　全部账户、资金、商户、短信均为模拟</a:t>
            </a:r>
            <a:endParaRPr lang="en-US" sz="1000" dirty="0"/>
          </a:p>
        </p:txBody>
      </p:sp>
      <p:sp>
        <p:nvSpPr>
          <p:cNvPr id="3" name="章节条"/>
          <p:cNvSpPr txBox="1"/>
          <p:nvPr/>
        </p:nvSpPr>
        <p:spPr>
          <a:xfrm>
            <a:off x="5303520" y="9144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3204A"/>
                </a:solidFill>
              </a:rPr>
              <a:t>问题</a:t>
            </a:r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　｜　</a:t>
            </a:r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能办什么</a:t>
            </a:r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　｜　</a:t>
            </a:r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为什么安全</a:t>
            </a:r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　｜　</a:t>
            </a:r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体验与创新</a:t>
            </a:r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　｜　</a:t>
            </a:r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证据与边界</a:t>
            </a:r>
            <a:endParaRPr lang="en-US" sz="1050" dirty="0"/>
          </a:p>
        </p:txBody>
      </p:sp>
      <p:sp>
        <p:nvSpPr>
          <p:cNvPr id="4" name="标题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4A"/>
                </a:solidFill>
              </a:rPr>
              <a:t>只靠规则办不成，只靠模型不放心</a:t>
            </a:r>
            <a:endParaRPr lang="en-US" sz="2800" dirty="0"/>
          </a:p>
        </p:txBody>
      </p:sp>
      <p:sp>
        <p:nvSpPr>
          <p:cNvPr id="5" name="副标题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赛题既要“办得成”（任务完成 40%），也要“不出事”（安全合规 30%）</a:t>
            </a:r>
            <a:endParaRPr lang="en-US" sz="1500" dirty="0"/>
          </a:p>
        </p:txBody>
      </p:sp>
      <p:sp>
        <p:nvSpPr>
          <p:cNvPr id="6" name="卡片-只靠规则"/>
          <p:cNvSpPr/>
          <p:nvPr/>
        </p:nvSpPr>
        <p:spPr>
          <a:xfrm>
            <a:off x="548640" y="1554480"/>
            <a:ext cx="3703320" cy="4114800"/>
          </a:xfrm>
          <a:prstGeom prst="roundRect">
            <a:avLst>
              <a:gd name="adj" fmla="val 296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圆标-规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C2710C"/>
          </a:solidFill>
          <a:ln w="12700">
            <a:solidFill>
              <a:srgbClr val="C271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规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783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A"/>
                </a:solidFill>
              </a:rPr>
              <a:t>只靠规则：办不成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2710C"/>
                </a:solidFill>
              </a:rPr>
              <a:t>2 / 7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015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我们的第一版（10-30 实测）：7 句口语请求只办成 2 句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690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“明天给小王转200，备注还饭钱”“我卡丢了”都只回“请明确操作”；大额转账、申购、挂失一律拒绝</a:t>
            </a:r>
            <a:endParaRPr lang="en-US" sz="1300" dirty="0"/>
          </a:p>
        </p:txBody>
      </p:sp>
      <p:sp>
        <p:nvSpPr>
          <p:cNvPr id="13" name="卡片-只靠模型"/>
          <p:cNvSpPr/>
          <p:nvPr/>
        </p:nvSpPr>
        <p:spPr>
          <a:xfrm>
            <a:off x="4434840" y="1554480"/>
            <a:ext cx="3703320" cy="4114800"/>
          </a:xfrm>
          <a:prstGeom prst="roundRect">
            <a:avLst>
              <a:gd name="adj" fmla="val 2963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4" name="圆标-模"/>
          <p:cNvSpPr/>
          <p:nvPr/>
        </p:nvSpPr>
        <p:spPr>
          <a:xfrm>
            <a:off x="4663440" y="1783080"/>
            <a:ext cx="566928" cy="5669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模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783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A"/>
                </a:solidFill>
              </a:rPr>
              <a:t>只靠模型：会被带偏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514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C2626"/>
                </a:solidFill>
              </a:rPr>
              <a:t>¥2,000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4015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本版演示录制中的真实一步：模型提议向涉诈账户转 ¥2,000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0690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上一句是“客服让我把钱转到安全账户”。模型顺着话头提出转账 → 代码判档拒绝（右图：安全透视面板）</a:t>
            </a:r>
            <a:endParaRPr lang="en-US" sz="1300" dirty="0"/>
          </a:p>
        </p:txBody>
      </p:sp>
      <p:pic>
        <p:nvPicPr>
          <p:cNvPr id="20" name="Image 0" descr="安全透视：模型第 2 步提出 transfer（170****0000，2000，安全账户）→ 代码判档拦截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4712" y="1554480"/>
            <a:ext cx="2895600" cy="41148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57607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所以：</a:t>
            </a:r>
            <a:pPr indent="0" marL="0">
              <a:buNone/>
            </a:pPr>
            <a:r>
              <a:rPr lang="en-US" sz="1800" b="1" dirty="0">
                <a:solidFill>
                  <a:srgbClr val="13204A"/>
                </a:solidFill>
              </a:rPr>
              <a:t>模型负责听懂和规划，代码负责裁决和执行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出处：docs/sprint/PLAN.md 第 0 节（第一版实测）；演示回放的决策链（“按那条转账备注说的做”这一轮）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小安 · 银行 AI 智能体　｜　全部账户、资金、商户、短信均为模拟</a:t>
            </a:r>
            <a:endParaRPr lang="en-US" sz="1000" dirty="0"/>
          </a:p>
        </p:txBody>
      </p:sp>
      <p:sp>
        <p:nvSpPr>
          <p:cNvPr id="3" name="章节条"/>
          <p:cNvSpPr txBox="1"/>
          <p:nvPr/>
        </p:nvSpPr>
        <p:spPr>
          <a:xfrm>
            <a:off x="5303520" y="9144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问题</a:t>
            </a:r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　｜　</a:t>
            </a:r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能办什么</a:t>
            </a:r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　｜　</a:t>
            </a:r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为什么安全</a:t>
            </a:r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　｜　</a:t>
            </a:r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体验与创新</a:t>
            </a:r>
            <a:pPr algn="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　｜　</a:t>
            </a:r>
            <a:pPr algn="r" indent="0" marL="0">
              <a:buNone/>
            </a:pPr>
            <a:r>
              <a:rPr lang="en-US" sz="1050" b="1" dirty="0">
                <a:solidFill>
                  <a:srgbClr val="13204A"/>
                </a:solidFill>
              </a:rPr>
              <a:t>证据与边界</a:t>
            </a:r>
            <a:endParaRPr lang="en-US" sz="1050" dirty="0"/>
          </a:p>
        </p:txBody>
      </p:sp>
      <p:sp>
        <p:nvSpPr>
          <p:cNvPr id="4" name="标题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04A"/>
                </a:solidFill>
              </a:rPr>
              <a:t>AI 写代码，规则、取舍和验收由我们定</a:t>
            </a:r>
            <a:endParaRPr lang="en-US" sz="2800" dirty="0"/>
          </a:p>
        </p:txBody>
      </p:sp>
      <p:sp>
        <p:nvSpPr>
          <p:cNvPr id="5" name="副标题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三名大一学生 · 使用 AI 编程助手（Claude Code）开发</a:t>
            </a:r>
            <a:endParaRPr lang="en-US" sz="1500" dirty="0"/>
          </a:p>
        </p:txBody>
      </p:sp>
      <p:sp>
        <p:nvSpPr>
          <p:cNvPr id="6" name="卡片-我们做的"/>
          <p:cNvSpPr/>
          <p:nvPr/>
        </p:nvSpPr>
        <p:spPr>
          <a:xfrm>
            <a:off x="548640" y="1554480"/>
            <a:ext cx="6903720" cy="4160520"/>
          </a:xfrm>
          <a:prstGeom prst="roundRect">
            <a:avLst>
              <a:gd name="adj" fmla="val 263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圆标-人"/>
          <p:cNvSpPr/>
          <p:nvPr/>
        </p:nvSpPr>
        <p:spPr>
          <a:xfrm>
            <a:off x="777240" y="1755648"/>
            <a:ext cx="566928" cy="5669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人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75564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4A"/>
                </a:solidFill>
              </a:rPr>
              <a:t>我们三个人做的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8716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4A"/>
                </a:solidFill>
              </a:rPr>
              <a:t>需求取舍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48716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对照赛题原文，指出缺 IM 渠道、行业对标、场景深度三处，补进冲刺方案第 11 节（10-31）；</a:t>
            </a:r>
            <a:pPr indent="0" marL="0">
              <a:buNone/>
            </a:pPr>
            <a:r>
              <a:rPr lang="en-US" sz="1300" b="1" dirty="0">
                <a:solidFill>
                  <a:srgbClr val="C2710C"/>
                </a:solidFill>
              </a:rPr>
              <a:t>【队长补一例：砍掉 / 保留了什么，为什么】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273552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4A"/>
                </a:solidFill>
              </a:rPr>
              <a:t>安全规则设计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27355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710C"/>
                </a:solidFill>
              </a:rPr>
              <a:t>【队长填：哪几条规则是你们定的，例如“聊天说我确认不算确认”“风险对称”——只写真的由你们定的】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05993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4A"/>
                </a:solidFill>
              </a:rPr>
              <a:t>评测审核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405993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710C"/>
                </a:solidFill>
              </a:rPr>
              <a:t>【队长填：看了哪些失败用例、做了什么判断】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8463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204A"/>
                </a:solidFill>
              </a:rPr>
              <a:t>演示与答辩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48463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队长录制剪辑演示视频；队员手工修改 PPT；</a:t>
            </a:r>
            <a:pPr indent="0" marL="0">
              <a:buNone/>
            </a:pPr>
            <a:r>
              <a:rPr lang="en-US" sz="1300" b="1" dirty="0">
                <a:solidFill>
                  <a:srgbClr val="C2710C"/>
                </a:solidFill>
              </a:rPr>
              <a:t>【填：谁讲哪段、谁答哪类问题】</a:t>
            </a:r>
            <a:endParaRPr lang="en-US" sz="1300" dirty="0"/>
          </a:p>
        </p:txBody>
      </p:sp>
      <p:sp>
        <p:nvSpPr>
          <p:cNvPr id="18" name="卡片-AI 做的"/>
          <p:cNvSpPr/>
          <p:nvPr/>
        </p:nvSpPr>
        <p:spPr>
          <a:xfrm>
            <a:off x="7635240" y="1554480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9" name="圆标-机"/>
          <p:cNvSpPr/>
          <p:nvPr/>
        </p:nvSpPr>
        <p:spPr>
          <a:xfrm>
            <a:off x="7863840" y="1755648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机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17556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4A"/>
                </a:solidFill>
              </a:rPr>
              <a:t>AI 编程助手做的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2487168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两个独立会话：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① 引擎：后端、安全内核、单元测试（370 项，除需 Docker 的一组外通过）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② 体验与交付：前端、评测集（151 条）、文档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</a:rPr>
              <a:t>评测集由不读后端实现的会话编写；会话之间只通过接口契约和进度文件协作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我们敢用 AI 写银行代码的理由：</a:t>
            </a:r>
            <a:pPr indent="0" marL="0">
              <a:buNone/>
            </a:pPr>
            <a:r>
              <a:rPr lang="en-US" sz="1500" b="1" dirty="0">
                <a:solidFill>
                  <a:srgbClr val="13204A"/>
                </a:solidFill>
              </a:rPr>
              <a:t>安全不靠“代码一次写对”——每条规则都有单元测试对应，再用独立黑盒评测验收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小安 · 银行 AI 智能体　｜　全部账户、资金、商户、短信均为模拟</a:t>
            </a:r>
            <a:endParaRPr lang="en-US" sz="1000" dirty="0"/>
          </a:p>
        </p:txBody>
      </p:sp>
      <p:sp>
        <p:nvSpPr>
          <p:cNvPr id="3" name="标题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A"/>
                </a:solidFill>
              </a:rPr>
              <a:t>小安 · 模型提议，代码裁决</a:t>
            </a:r>
            <a:endParaRPr lang="en-US" sz="3000" dirty="0"/>
          </a:p>
        </p:txBody>
      </p:sp>
      <p:sp>
        <p:nvSpPr>
          <p:cNvPr id="4" name="大纲-能办什么"/>
          <p:cNvSpPr/>
          <p:nvPr/>
        </p:nvSpPr>
        <p:spPr>
          <a:xfrm>
            <a:off x="548640" y="1371600"/>
            <a:ext cx="2651760" cy="4343400"/>
          </a:xfrm>
          <a:prstGeom prst="roundRect">
            <a:avLst>
              <a:gd name="adj" fmla="val 413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圆标-办"/>
          <p:cNvSpPr/>
          <p:nvPr/>
        </p:nvSpPr>
        <p:spPr>
          <a:xfrm>
            <a:off x="749808" y="1600200"/>
            <a:ext cx="566928" cy="56692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办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554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4A"/>
                </a:solidFill>
              </a:rPr>
              <a:t>能办什么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任务完成 40%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14600"/>
            <a:ext cx="22860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六大场景 18 项能力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工具调用，一轮 ≤ 6 步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DAG 计划：一次确认、可回退</a:t>
            </a:r>
            <a:endParaRPr lang="en-US" sz="1500" dirty="0"/>
          </a:p>
        </p:txBody>
      </p:sp>
      <p:sp>
        <p:nvSpPr>
          <p:cNvPr id="10" name="大纲-为什么安全"/>
          <p:cNvSpPr/>
          <p:nvPr/>
        </p:nvSpPr>
        <p:spPr>
          <a:xfrm>
            <a:off x="3355848" y="1371600"/>
            <a:ext cx="2651760" cy="4343400"/>
          </a:xfrm>
          <a:prstGeom prst="roundRect">
            <a:avLst>
              <a:gd name="adj" fmla="val 413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圆标-守"/>
          <p:cNvSpPr/>
          <p:nvPr/>
        </p:nvSpPr>
        <p:spPr>
          <a:xfrm>
            <a:off x="3557016" y="1600200"/>
            <a:ext cx="566928" cy="5669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57016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守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1554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4A"/>
                </a:solidFill>
              </a:rPr>
              <a:t>为什么安全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安全合规 30%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57016" y="2514600"/>
            <a:ext cx="22860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三档权限由代码判定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交易密码 + 动态码，熔断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反诈评分 + 延时到账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五层防注入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参数溯源 + 事实校验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沙箱：无网络、限时限内存</a:t>
            </a:r>
            <a:endParaRPr lang="en-US" sz="1500" dirty="0"/>
          </a:p>
        </p:txBody>
      </p:sp>
      <p:sp>
        <p:nvSpPr>
          <p:cNvPr id="16" name="大纲-体验与创新"/>
          <p:cNvSpPr/>
          <p:nvPr/>
        </p:nvSpPr>
        <p:spPr>
          <a:xfrm>
            <a:off x="6163056" y="1371600"/>
            <a:ext cx="2651760" cy="4343400"/>
          </a:xfrm>
          <a:prstGeom prst="roundRect">
            <a:avLst>
              <a:gd name="adj" fmla="val 413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7" name="圆标-新"/>
          <p:cNvSpPr/>
          <p:nvPr/>
        </p:nvSpPr>
        <p:spPr>
          <a:xfrm>
            <a:off x="6364224" y="1600200"/>
            <a:ext cx="566928" cy="5669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4224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1554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4A"/>
                </a:solidFill>
              </a:rPr>
              <a:t>体验与创新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59168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创新与交互 30%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2514600"/>
            <a:ext cx="22860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App + 飞书，渠道分级风控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主动关怀：生日、续费、异常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口语、追问、兜底、转人工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安全透视：每步决策可见</a:t>
            </a:r>
            <a:endParaRPr lang="en-US" sz="1500" dirty="0"/>
          </a:p>
        </p:txBody>
      </p:sp>
      <p:sp>
        <p:nvSpPr>
          <p:cNvPr id="22" name="大纲-证据与边界"/>
          <p:cNvSpPr/>
          <p:nvPr/>
        </p:nvSpPr>
        <p:spPr>
          <a:xfrm>
            <a:off x="8970264" y="1371600"/>
            <a:ext cx="2651760" cy="4343400"/>
          </a:xfrm>
          <a:prstGeom prst="roundRect">
            <a:avLst>
              <a:gd name="adj" fmla="val 4138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3" name="圆标-证"/>
          <p:cNvSpPr/>
          <p:nvPr/>
        </p:nvSpPr>
        <p:spPr>
          <a:xfrm>
            <a:off x="9171432" y="1600200"/>
            <a:ext cx="566928" cy="566928"/>
          </a:xfrm>
          <a:prstGeom prst="ellipse">
            <a:avLst/>
          </a:prstGeom>
          <a:solidFill>
            <a:srgbClr val="C2710C"/>
          </a:solidFill>
          <a:ln w="12700">
            <a:solidFill>
              <a:srgbClr val="C2710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71432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证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866376" y="1554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4A"/>
                </a:solidFill>
              </a:rPr>
              <a:t>证据与边界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171432" y="2514600"/>
            <a:ext cx="22860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C2710C"/>
                </a:solidFill>
              </a:rPr>
              <a:t>151 条独立黑盒评测【最终数字】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已知风险与缓解：隐私、模拟环境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AI 写代码，规则与验收由我们定</a:t>
            </a:r>
            <a:endParaRPr lang="en-US" sz="1500" dirty="0"/>
          </a:p>
        </p:txBody>
      </p:sp>
      <p:sp>
        <p:nvSpPr>
          <p:cNvPr id="27" name="提示-复制后可删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每列一个评分维度；提问环节一直停在这一页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小安 · 答辩 PPT 示范页</dc:title>
  <dc:subject>PptxGenJS Presentation</dc:subject>
  <dc:creator>FinTechathon 2026 参赛队</dc:creator>
  <cp:lastModifiedBy>FinTechathon 2026 参赛队</cp:lastModifiedBy>
  <cp:revision>1</cp:revision>
  <dcterms:created xsi:type="dcterms:W3CDTF">2026-11-01T03:49:00Z</dcterms:created>
  <dcterms:modified xsi:type="dcterms:W3CDTF">2026-11-01T03:49:00Z</dcterms:modified>
</cp:coreProperties>
</file>